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7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62A6E-8384-44AB-A2D9-B124D336107C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69F9F-7D61-4AFB-8B53-DB7B8975BC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F0D6B-B1C5-4E61-BE57-DA0142D68626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44A53-A008-459E-A80A-952FAC70E5D3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Educational\Documents\AxLavoro\Didattica\Poli2023\2023_EDP\materiale%20didattico\Specian_s%20Phun%20machines_%20Brownian%20motion.mp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395536" y="2132856"/>
            <a:ext cx="8424936" cy="1470025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Significati probabilistici </a:t>
            </a:r>
            <a:br>
              <a:rPr lang="it-IT" dirty="0" smtClean="0"/>
            </a:br>
            <a:r>
              <a:rPr lang="it-IT" dirty="0" smtClean="0"/>
              <a:t>di alcune equazioni alle derivate parziali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it-IT" dirty="0" smtClean="0"/>
              <a:t>Il moto browniano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1468760"/>
          </a:xfrm>
        </p:spPr>
        <p:txBody>
          <a:bodyPr/>
          <a:lstStyle/>
          <a:p>
            <a:r>
              <a:rPr lang="it-IT" sz="2000" dirty="0" smtClean="0"/>
              <a:t>Nel 1826 il botanico scozzese Robert </a:t>
            </a:r>
            <a:r>
              <a:rPr lang="it-IT" sz="2000" dirty="0" err="1" smtClean="0"/>
              <a:t>Brown</a:t>
            </a:r>
            <a:r>
              <a:rPr lang="it-IT" sz="2000" dirty="0" smtClean="0"/>
              <a:t> osservò al microscopio che piccoli granelli di polline sospesi nell'acqua sono soggetti a un perpetuo movimento, con piccoli spostamenti lungo traiettorie apparentemente caotiche e irregolari.</a:t>
            </a:r>
          </a:p>
          <a:p>
            <a:endParaRPr lang="it-IT" sz="2000" dirty="0"/>
          </a:p>
        </p:txBody>
      </p:sp>
      <p:pic>
        <p:nvPicPr>
          <p:cNvPr id="1026" name="Picture 2" descr="C:\Users\Educational\Documents\AxLavoro\Didattica\Elucubrax\post_mostra_matematica\06_moto browniano\piazza02_brownia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140968"/>
            <a:ext cx="2848084" cy="25193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8" name="Segnaposto contenuto 2"/>
          <p:cNvSpPr txBox="1">
            <a:spLocks/>
          </p:cNvSpPr>
          <p:nvPr/>
        </p:nvSpPr>
        <p:spPr>
          <a:xfrm>
            <a:off x="3779912" y="3356992"/>
            <a:ext cx="4752528" cy="2044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000" dirty="0" smtClean="0"/>
              <a:t>Varie interpretazioni del fenomeno furono proposte nei decenni seguenti.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000" dirty="0" smtClean="0"/>
              <a:t>Nel </a:t>
            </a:r>
            <a:r>
              <a:rPr lang="it-IT" sz="2000" dirty="0"/>
              <a:t>1877, </a:t>
            </a:r>
            <a:r>
              <a:rPr lang="it-IT" sz="2000" dirty="0" err="1"/>
              <a:t>Delsaux</a:t>
            </a:r>
            <a:r>
              <a:rPr lang="it-IT" sz="2000" dirty="0"/>
              <a:t> espresse per la prima volta l'idea che questo movimento fosse causato dagli urti delle molecole del liquido con le particelle in sospensione.</a:t>
            </a:r>
            <a:endParaRPr kumimoji="0" lang="it-IT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08112"/>
          </a:xfrm>
        </p:spPr>
        <p:txBody>
          <a:bodyPr/>
          <a:lstStyle/>
          <a:p>
            <a:r>
              <a:rPr lang="it-IT" dirty="0" smtClean="0"/>
              <a:t>Il moto browniano</a:t>
            </a:r>
            <a:endParaRPr lang="it-IT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536" y="5085184"/>
            <a:ext cx="8280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Ma le molecole dell'acqua, a differenza dei granelli di polline, sono troppo piccole per poter essere direttamente osservate al microscopio.</a:t>
            </a:r>
          </a:p>
          <a:p>
            <a:r>
              <a:rPr lang="it-IT" dirty="0" smtClean="0"/>
              <a:t>Per confermare quest'ipotesi occorreva un’argomentazione teorica che permettesse di prevedere quantitativamente il fenomeno osservato a partire da una teoria sui fenomeni che accadono a livello molecolare.</a:t>
            </a:r>
            <a:endParaRPr lang="it-IT" dirty="0"/>
          </a:p>
        </p:txBody>
      </p:sp>
      <p:pic>
        <p:nvPicPr>
          <p:cNvPr id="7" name="Specian_s Phun machines_ Brownian motion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2195736" y="1340768"/>
            <a:ext cx="45720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790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467544" y="116632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 moto browniano. Einstein, 1905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Immagine 5" descr="R5LL4S02.w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268760"/>
            <a:ext cx="4150894" cy="47251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CasellaDiTesto 6"/>
          <p:cNvSpPr txBox="1"/>
          <p:nvPr/>
        </p:nvSpPr>
        <p:spPr>
          <a:xfrm>
            <a:off x="4644008" y="1052736"/>
            <a:ext cx="41764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Immaginiamo che in un liquido avente coefficiente di viscosità </a:t>
            </a:r>
            <a:r>
              <a:rPr lang="it-IT" i="1" dirty="0" smtClean="0"/>
              <a:t>k</a:t>
            </a:r>
            <a:r>
              <a:rPr lang="it-IT" dirty="0" smtClean="0"/>
              <a:t> siano sospese </a:t>
            </a:r>
            <a:r>
              <a:rPr lang="it-IT" i="1" dirty="0" smtClean="0"/>
              <a:t>n</a:t>
            </a:r>
            <a:r>
              <a:rPr lang="it-IT" dirty="0" smtClean="0"/>
              <a:t> particelle sferiche identiche, di raggio </a:t>
            </a:r>
            <a:r>
              <a:rPr lang="it-IT" i="1" dirty="0" smtClean="0"/>
              <a:t>a</a:t>
            </a:r>
            <a:r>
              <a:rPr lang="it-IT" dirty="0" smtClean="0"/>
              <a:t> (i “granelli di polline” di </a:t>
            </a:r>
            <a:r>
              <a:rPr lang="it-IT" dirty="0" err="1" smtClean="0"/>
              <a:t>Brown</a:t>
            </a:r>
            <a:r>
              <a:rPr lang="it-IT" dirty="0" smtClean="0"/>
              <a:t>). Indichiamo con f(x,t) il numero di particelle per unità di volume nel punto </a:t>
            </a:r>
            <a:r>
              <a:rPr lang="it-IT" i="1" dirty="0" smtClean="0"/>
              <a:t>x</a:t>
            </a:r>
            <a:r>
              <a:rPr lang="it-IT" dirty="0" smtClean="0"/>
              <a:t> all'istante </a:t>
            </a:r>
            <a:r>
              <a:rPr lang="it-IT" i="1" dirty="0" smtClean="0"/>
              <a:t>t</a:t>
            </a:r>
            <a:r>
              <a:rPr lang="it-IT" dirty="0" smtClean="0"/>
              <a:t>, perciò</a:t>
            </a:r>
            <a:endParaRPr lang="it-I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852936"/>
            <a:ext cx="2998093" cy="70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sellaDiTesto 8"/>
          <p:cNvSpPr txBox="1"/>
          <p:nvPr/>
        </p:nvSpPr>
        <p:spPr>
          <a:xfrm>
            <a:off x="4716016" y="3573016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Einstein dimostra, a partire dalla teoria cinetica del calore che </a:t>
            </a:r>
            <a:r>
              <a:rPr lang="it-IT" i="1" dirty="0" smtClean="0"/>
              <a:t>f</a:t>
            </a:r>
            <a:r>
              <a:rPr lang="it-IT" dirty="0" smtClean="0"/>
              <a:t> soddisfa l’equazione di diffusione:</a:t>
            </a:r>
            <a:endParaRPr lang="it-IT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6096" y="4437112"/>
            <a:ext cx="2519432" cy="747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24128" y="5229200"/>
            <a:ext cx="1810181" cy="623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467544" y="116632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 moto browniano. Einstein, 1905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611560" y="1052736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Immaginando (idealizzazione) che all'istante t=0 tutte le particelle si trovino in x=0 si ha: </a:t>
            </a:r>
            <a:endParaRPr lang="it-IT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484784"/>
            <a:ext cx="24384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sellaDiTesto 12"/>
          <p:cNvSpPr txBox="1"/>
          <p:nvPr/>
        </p:nvSpPr>
        <p:spPr>
          <a:xfrm>
            <a:off x="611560" y="2060848"/>
            <a:ext cx="361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Quindi </a:t>
            </a:r>
            <a:r>
              <a:rPr lang="it-IT" i="1" dirty="0" smtClean="0"/>
              <a:t>f</a:t>
            </a:r>
            <a:r>
              <a:rPr lang="it-IT" dirty="0" smtClean="0"/>
              <a:t> è </a:t>
            </a:r>
            <a:r>
              <a:rPr lang="it-IT" i="1" dirty="0" smtClean="0"/>
              <a:t>n</a:t>
            </a:r>
            <a:r>
              <a:rPr lang="it-IT" dirty="0" smtClean="0"/>
              <a:t> volte il nucleo del calore</a:t>
            </a:r>
            <a:endParaRPr lang="it-IT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1916832"/>
            <a:ext cx="280035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CasellaDiTesto 14"/>
          <p:cNvSpPr txBox="1"/>
          <p:nvPr/>
        </p:nvSpPr>
        <p:spPr>
          <a:xfrm>
            <a:off x="395536" y="2708920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Con una terminologia più moderna e probabilistica, possiamo pensare, invece che alla </a:t>
            </a:r>
            <a:r>
              <a:rPr lang="it-IT" i="1" dirty="0" smtClean="0"/>
              <a:t>densità volumica delle particelle</a:t>
            </a:r>
            <a:r>
              <a:rPr lang="it-IT" dirty="0" smtClean="0"/>
              <a:t>, alla </a:t>
            </a:r>
            <a:r>
              <a:rPr lang="it-IT" i="1" dirty="0" smtClean="0"/>
              <a:t>densità di probabilità che una singola particella </a:t>
            </a:r>
            <a:r>
              <a:rPr lang="it-IT" dirty="0" smtClean="0"/>
              <a:t>che per t=0 si trova in x=0 si trovi nel punto x all'istante </a:t>
            </a:r>
            <a:r>
              <a:rPr lang="it-IT" i="1" dirty="0" smtClean="0"/>
              <a:t>t</a:t>
            </a:r>
            <a:r>
              <a:rPr lang="it-IT" dirty="0" smtClean="0"/>
              <a:t>. </a:t>
            </a:r>
          </a:p>
          <a:p>
            <a:r>
              <a:rPr lang="it-IT" dirty="0" smtClean="0"/>
              <a:t>Questa densità di probabilità sarà:</a:t>
            </a:r>
            <a:endParaRPr lang="it-IT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3861048"/>
            <a:ext cx="3779143" cy="77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CasellaDiTesto 16"/>
          <p:cNvSpPr txBox="1"/>
          <p:nvPr/>
        </p:nvSpPr>
        <p:spPr>
          <a:xfrm>
            <a:off x="395536" y="4826675"/>
            <a:ext cx="8496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Quindi: una particella (“di polline”) che all'istante 0 si trova nell'origine, allo scorrere del tempo si muoverà con un moto caotico e irregolare. </a:t>
            </a:r>
          </a:p>
          <a:p>
            <a:r>
              <a:rPr lang="it-IT" dirty="0" smtClean="0"/>
              <a:t>E’ il primo esempio di </a:t>
            </a:r>
            <a:r>
              <a:rPr lang="it-IT" i="1" dirty="0" smtClean="0"/>
              <a:t>processo stocastico continuo</a:t>
            </a:r>
            <a:r>
              <a:rPr lang="it-IT" dirty="0" smtClean="0"/>
              <a:t>: la posizione nello spazio della particella è una famiglia </a:t>
            </a:r>
            <a:r>
              <a:rPr lang="it-IT" i="1" dirty="0" err="1" smtClean="0"/>
              <a:t>X</a:t>
            </a:r>
            <a:r>
              <a:rPr lang="it-IT" i="1" baseline="-25000" dirty="0" err="1" smtClean="0"/>
              <a:t>t</a:t>
            </a:r>
            <a:r>
              <a:rPr lang="it-IT" dirty="0" smtClean="0"/>
              <a:t> di variabili aleatorie dipendenti dal parametro </a:t>
            </a:r>
            <a:r>
              <a:rPr lang="it-IT" i="1" dirty="0" smtClean="0"/>
              <a:t>t</a:t>
            </a:r>
            <a:r>
              <a:rPr lang="it-IT" dirty="0" smtClean="0"/>
              <a:t>, con la condizione </a:t>
            </a:r>
            <a:r>
              <a:rPr lang="it-IT" i="1" dirty="0" smtClean="0"/>
              <a:t>X</a:t>
            </a:r>
            <a:r>
              <a:rPr lang="it-IT" dirty="0" smtClean="0"/>
              <a:t>₀=0. </a:t>
            </a:r>
          </a:p>
          <a:p>
            <a:r>
              <a:rPr lang="it-IT" dirty="0" smtClean="0"/>
              <a:t>La funzione p(x,t) è la </a:t>
            </a:r>
            <a:r>
              <a:rPr lang="it-IT" i="1" dirty="0" smtClean="0"/>
              <a:t>densità di probabilità di transizione </a:t>
            </a:r>
            <a:r>
              <a:rPr lang="it-IT" dirty="0" smtClean="0"/>
              <a:t>del processo.</a:t>
            </a:r>
            <a:endParaRPr lang="it-IT" dirty="0"/>
          </a:p>
        </p:txBody>
      </p:sp>
      <p:grpSp>
        <p:nvGrpSpPr>
          <p:cNvPr id="14" name="Gruppo 13"/>
          <p:cNvGrpSpPr/>
          <p:nvPr/>
        </p:nvGrpSpPr>
        <p:grpSpPr>
          <a:xfrm>
            <a:off x="4572000" y="1484784"/>
            <a:ext cx="2848719" cy="369332"/>
            <a:chOff x="4572000" y="1484784"/>
            <a:chExt cx="2848719" cy="369332"/>
          </a:xfrm>
        </p:grpSpPr>
        <p:sp>
          <p:nvSpPr>
            <p:cNvPr id="11" name="CasellaDiTesto 10"/>
            <p:cNvSpPr txBox="1"/>
            <p:nvPr/>
          </p:nvSpPr>
          <p:spPr>
            <a:xfrm>
              <a:off x="4572000" y="1484784"/>
              <a:ext cx="1217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 smtClean="0"/>
                <a:t>…o</a:t>
              </a:r>
              <a:r>
                <a:rPr lang="it-IT" dirty="0" smtClean="0"/>
                <a:t> meglio:</a:t>
              </a:r>
              <a:endParaRPr lang="it-IT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868144" y="1556792"/>
              <a:ext cx="155257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build="p"/>
      <p:bldP spid="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467544" y="116632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 moto browniano. Einstein, 1905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467544" y="980728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Chiediamoci ora: dopo un tempo t, dove si troverà la particella?</a:t>
            </a:r>
            <a:endParaRPr lang="it-I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340768"/>
            <a:ext cx="3960440" cy="844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asellaDiTesto 13"/>
          <p:cNvSpPr txBox="1"/>
          <p:nvPr/>
        </p:nvSpPr>
        <p:spPr>
          <a:xfrm>
            <a:off x="395536" y="2204864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La domanda più interessante è, invece: dopo un tempo t, a quale distanza dal punto di partenza si troverà la particella?</a:t>
            </a:r>
            <a:endParaRPr lang="it-IT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2780928"/>
            <a:ext cx="5400600" cy="85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CasellaDiTesto 15"/>
          <p:cNvSpPr txBox="1"/>
          <p:nvPr/>
        </p:nvSpPr>
        <p:spPr>
          <a:xfrm>
            <a:off x="467544" y="3789040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Einstein calcola lo spostamento medio nel tempo </a:t>
            </a:r>
            <a:r>
              <a:rPr lang="it-IT" i="1" dirty="0" smtClean="0"/>
              <a:t>t </a:t>
            </a:r>
            <a:r>
              <a:rPr lang="it-IT" dirty="0" smtClean="0"/>
              <a:t>e lo esprime in termini dei vari parametri fisici coinvolti:</a:t>
            </a:r>
            <a:endParaRPr lang="it-IT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5816" y="4581128"/>
            <a:ext cx="3054102" cy="73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467544" y="0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Il moto browniano. Einstein, 1905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08720"/>
            <a:ext cx="874395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sellaDiTesto 9"/>
          <p:cNvSpPr txBox="1"/>
          <p:nvPr/>
        </p:nvSpPr>
        <p:spPr>
          <a:xfrm>
            <a:off x="251520" y="4826675"/>
            <a:ext cx="88924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Questo è quanto fece poco tempo dopo J. B. </a:t>
            </a:r>
            <a:r>
              <a:rPr lang="it-IT" dirty="0" err="1" smtClean="0"/>
              <a:t>Perrin</a:t>
            </a:r>
            <a:r>
              <a:rPr lang="it-IT" dirty="0" smtClean="0"/>
              <a:t>, che in seguito vinse il premio Nobel.</a:t>
            </a:r>
          </a:p>
          <a:p>
            <a:r>
              <a:rPr lang="it-IT" dirty="0" smtClean="0"/>
              <a:t>L’aspetto notevole delle ricerche sul moto browniano di Einstein è che viene gettato un ponte tra la scala di ciò che è visibile (al microscopio) e una scala a quel tempo invisibile, consentendo di:</a:t>
            </a:r>
          </a:p>
          <a:p>
            <a:r>
              <a:rPr lang="it-IT" dirty="0" smtClean="0"/>
              <a:t>-verificare la correttezza della teoria cinetica del calore;</a:t>
            </a:r>
          </a:p>
          <a:p>
            <a:r>
              <a:rPr lang="it-IT" dirty="0" smtClean="0"/>
              <a:t>-usare le osservazioni sperimentali per calcolare accuratamente una costante fisica fondamentale che ha a che fare col mondo submicroscopico.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066130"/>
          </a:xfrm>
        </p:spPr>
        <p:txBody>
          <a:bodyPr>
            <a:noAutofit/>
          </a:bodyPr>
          <a:lstStyle/>
          <a:p>
            <a:r>
              <a:rPr lang="it-IT" sz="3600" dirty="0" smtClean="0"/>
              <a:t>Significato probabilistico </a:t>
            </a:r>
            <a:br>
              <a:rPr lang="it-IT" sz="3600" dirty="0" smtClean="0"/>
            </a:br>
            <a:r>
              <a:rPr lang="it-IT" sz="3600" dirty="0" smtClean="0"/>
              <a:t>dell’equazione del calore</a:t>
            </a:r>
            <a:endParaRPr lang="it-IT" sz="3600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51520" y="1124744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Ricapitoliamo la descrizione del moto browniano da un punto di vista matematico astratto.</a:t>
            </a:r>
          </a:p>
          <a:p>
            <a:r>
              <a:rPr lang="it-IT" dirty="0" smtClean="0"/>
              <a:t>Diciamo che una “particella” si muove di moto browniano nello spazio </a:t>
            </a:r>
            <a:r>
              <a:rPr lang="it-IT" dirty="0" err="1" smtClean="0"/>
              <a:t>Rⁿ</a:t>
            </a:r>
            <a:r>
              <a:rPr lang="it-IT" dirty="0" smtClean="0"/>
              <a:t> se la sua posizione è una famiglia </a:t>
            </a:r>
            <a:r>
              <a:rPr lang="it-IT" i="1" dirty="0" err="1" smtClean="0"/>
              <a:t>X</a:t>
            </a:r>
            <a:r>
              <a:rPr lang="it-IT" i="1" baseline="-25000" dirty="0" err="1" smtClean="0"/>
              <a:t>t</a:t>
            </a:r>
            <a:r>
              <a:rPr lang="it-IT" dirty="0" smtClean="0"/>
              <a:t> di variabili aleatorie (</a:t>
            </a:r>
            <a:r>
              <a:rPr lang="it-IT" i="1" dirty="0" smtClean="0"/>
              <a:t>n</a:t>
            </a:r>
            <a:r>
              <a:rPr lang="it-IT" dirty="0" smtClean="0"/>
              <a:t> dimensionali) dipendenti dal parametro </a:t>
            </a:r>
            <a:r>
              <a:rPr lang="it-IT" i="1" dirty="0" smtClean="0"/>
              <a:t>t</a:t>
            </a:r>
            <a:r>
              <a:rPr lang="it-IT" dirty="0" smtClean="0"/>
              <a:t>, la cui la densità di probabilità di transizione supponendo che all'istante t=0 si trovi in x=0, è:</a:t>
            </a:r>
            <a:endParaRPr lang="it-IT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276872"/>
            <a:ext cx="2943225" cy="823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sellaDiTesto 5"/>
          <p:cNvSpPr txBox="1"/>
          <p:nvPr/>
        </p:nvSpPr>
        <p:spPr>
          <a:xfrm>
            <a:off x="395536" y="3212976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Se all'istante t invece di trovarsi in 0 la particella si trova in un generico punto x, la densità di probabilità di transizione nel punto y sarà semplicemente la traslata:</a:t>
            </a:r>
            <a:endParaRPr lang="it-IT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3933056"/>
            <a:ext cx="3350518" cy="789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" name="Gruppo 16"/>
          <p:cNvGrpSpPr/>
          <p:nvPr/>
        </p:nvGrpSpPr>
        <p:grpSpPr>
          <a:xfrm>
            <a:off x="395536" y="4797152"/>
            <a:ext cx="5040560" cy="1069042"/>
            <a:chOff x="395536" y="4797152"/>
            <a:chExt cx="5040560" cy="1069042"/>
          </a:xfrm>
        </p:grpSpPr>
        <p:sp>
          <p:nvSpPr>
            <p:cNvPr id="14" name="CasellaDiTesto 13"/>
            <p:cNvSpPr txBox="1"/>
            <p:nvPr/>
          </p:nvSpPr>
          <p:spPr>
            <a:xfrm>
              <a:off x="395536" y="4797152"/>
              <a:ext cx="451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Ad esempio, dato un insieme A⊂</a:t>
              </a:r>
              <a:r>
                <a:rPr lang="it-IT" dirty="0" err="1" smtClean="0"/>
                <a:t>Rⁿ</a:t>
              </a:r>
              <a:r>
                <a:rPr lang="it-IT" dirty="0" smtClean="0"/>
                <a:t>, l'integrale</a:t>
              </a:r>
              <a:endParaRPr lang="it-IT" dirty="0"/>
            </a:p>
          </p:txBody>
        </p:sp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07904" y="5157192"/>
              <a:ext cx="1728192" cy="709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" name="CasellaDiTesto 15"/>
          <p:cNvSpPr txBox="1"/>
          <p:nvPr/>
        </p:nvSpPr>
        <p:spPr>
          <a:xfrm>
            <a:off x="323528" y="5949280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rappresenta la probabilità che una particella che all'istante t=0 si trova in x, all'istante t si trovi nella regione A.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066130"/>
          </a:xfrm>
        </p:spPr>
        <p:txBody>
          <a:bodyPr>
            <a:normAutofit fontScale="90000"/>
          </a:bodyPr>
          <a:lstStyle/>
          <a:p>
            <a:r>
              <a:rPr lang="it-IT" sz="3600" dirty="0" smtClean="0"/>
              <a:t>Significato probabilistico </a:t>
            </a:r>
            <a:br>
              <a:rPr lang="it-IT" sz="3600" dirty="0" smtClean="0"/>
            </a:br>
            <a:r>
              <a:rPr lang="it-IT" sz="3600" dirty="0" smtClean="0"/>
              <a:t>dell’equazione del calore</a:t>
            </a:r>
            <a:endParaRPr lang="it-IT" sz="3600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251520" y="1340768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Sappiamo che la funzione p(x,y,t) è anche la soluzione fondamentale dell’equazione del calore. </a:t>
            </a:r>
          </a:p>
          <a:p>
            <a:r>
              <a:rPr lang="it-IT" dirty="0" smtClean="0"/>
              <a:t>Quindi sappiamo che la funzione:</a:t>
            </a:r>
            <a:endParaRPr lang="it-IT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2420888"/>
            <a:ext cx="3192785" cy="761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sellaDiTesto 11"/>
          <p:cNvSpPr txBox="1"/>
          <p:nvPr/>
        </p:nvSpPr>
        <p:spPr>
          <a:xfrm>
            <a:off x="323528" y="3429000"/>
            <a:ext cx="2872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risolve il problema di Cauchy</a:t>
            </a:r>
            <a:endParaRPr lang="it-IT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3861048"/>
            <a:ext cx="30765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066130"/>
          </a:xfrm>
        </p:spPr>
        <p:txBody>
          <a:bodyPr>
            <a:normAutofit fontScale="90000"/>
          </a:bodyPr>
          <a:lstStyle/>
          <a:p>
            <a:r>
              <a:rPr lang="it-IT" sz="3600" dirty="0" smtClean="0"/>
              <a:t>Significato probabilistico </a:t>
            </a:r>
            <a:br>
              <a:rPr lang="it-IT" sz="3600" dirty="0" smtClean="0"/>
            </a:br>
            <a:r>
              <a:rPr lang="it-IT" sz="3600" dirty="0" smtClean="0"/>
              <a:t>dell’equazione del calore</a:t>
            </a:r>
            <a:endParaRPr lang="it-IT" sz="3600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51520" y="980728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Riflettiamo ora sul </a:t>
            </a:r>
            <a:r>
              <a:rPr lang="it-IT" i="1" dirty="0" smtClean="0"/>
              <a:t>significato probabilistico </a:t>
            </a:r>
            <a:r>
              <a:rPr lang="it-IT" dirty="0" smtClean="0"/>
              <a:t>dell’integrale:</a:t>
            </a:r>
            <a:endParaRPr lang="it-IT" dirty="0"/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340768"/>
            <a:ext cx="3192785" cy="761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sellaDiTesto 12"/>
          <p:cNvSpPr txBox="1"/>
          <p:nvPr/>
        </p:nvSpPr>
        <p:spPr>
          <a:xfrm>
            <a:off x="251520" y="2060848"/>
            <a:ext cx="8496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La particella all’istante t=0 si trova nel punto </a:t>
            </a:r>
            <a:r>
              <a:rPr lang="it-IT" i="1" dirty="0" smtClean="0"/>
              <a:t>x</a:t>
            </a:r>
            <a:r>
              <a:rPr lang="it-IT" dirty="0" smtClean="0"/>
              <a:t>, dopo di che inizia a muoversi di moto browniano; la sua posizione (aleatoria) al tempo </a:t>
            </a:r>
            <a:r>
              <a:rPr lang="it-IT" i="1" dirty="0" smtClean="0"/>
              <a:t>t</a:t>
            </a:r>
            <a:r>
              <a:rPr lang="it-IT" dirty="0" smtClean="0"/>
              <a:t> è </a:t>
            </a:r>
            <a:r>
              <a:rPr lang="it-IT" i="1" dirty="0" err="1" smtClean="0"/>
              <a:t>X</a:t>
            </a:r>
            <a:r>
              <a:rPr lang="it-IT" i="1" baseline="-25000" dirty="0" err="1" smtClean="0"/>
              <a:t>t</a:t>
            </a:r>
            <a:r>
              <a:rPr lang="it-IT" i="1" baseline="-25000" dirty="0" smtClean="0"/>
              <a:t> </a:t>
            </a:r>
            <a:r>
              <a:rPr lang="it-IT" i="1" dirty="0" smtClean="0"/>
              <a:t>.</a:t>
            </a:r>
            <a:endParaRPr lang="it-IT" dirty="0" smtClean="0"/>
          </a:p>
          <a:p>
            <a:r>
              <a:rPr lang="it-IT" dirty="0" smtClean="0"/>
              <a:t>Se </a:t>
            </a:r>
            <a:r>
              <a:rPr lang="it-IT" i="1" dirty="0" smtClean="0"/>
              <a:t>g</a:t>
            </a:r>
            <a:r>
              <a:rPr lang="it-IT" dirty="0" smtClean="0"/>
              <a:t> è una funzione continua definita in </a:t>
            </a:r>
            <a:r>
              <a:rPr lang="it-IT" dirty="0" err="1" smtClean="0"/>
              <a:t>Rⁿ</a:t>
            </a:r>
            <a:r>
              <a:rPr lang="it-IT" dirty="0" smtClean="0"/>
              <a:t>, </a:t>
            </a:r>
            <a:r>
              <a:rPr lang="it-IT" i="1" dirty="0" smtClean="0"/>
              <a:t>g</a:t>
            </a:r>
            <a:r>
              <a:rPr lang="it-IT" dirty="0" smtClean="0"/>
              <a:t>(</a:t>
            </a:r>
            <a:r>
              <a:rPr lang="it-IT" i="1" dirty="0" err="1" smtClean="0"/>
              <a:t>X</a:t>
            </a:r>
            <a:r>
              <a:rPr lang="it-IT" i="1" baseline="-25000" dirty="0" err="1" smtClean="0"/>
              <a:t>t</a:t>
            </a:r>
            <a:r>
              <a:rPr lang="it-IT" dirty="0" smtClean="0"/>
              <a:t>) è una variabile aleatoria (scalare), di cui vogliamo calcolare il valore atteso. </a:t>
            </a:r>
          </a:p>
          <a:p>
            <a:r>
              <a:rPr lang="it-IT" dirty="0" smtClean="0"/>
              <a:t>Per la formula di calcolo del valore atteso di una funzione di una variabile aleatoria, poiché </a:t>
            </a:r>
            <a:r>
              <a:rPr lang="it-IT" i="1" dirty="0" smtClean="0"/>
              <a:t>p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,</a:t>
            </a:r>
            <a:r>
              <a:rPr lang="it-IT" i="1" dirty="0" smtClean="0"/>
              <a:t>y</a:t>
            </a:r>
            <a:r>
              <a:rPr lang="it-IT" dirty="0" smtClean="0"/>
              <a:t>,</a:t>
            </a:r>
            <a:r>
              <a:rPr lang="it-IT" i="1" dirty="0" smtClean="0"/>
              <a:t>t</a:t>
            </a:r>
            <a:r>
              <a:rPr lang="it-IT" dirty="0" smtClean="0"/>
              <a:t>) è la densità di probabilità di transizione del processo, questo valore atteso è proprio l'integrale scritto qui sopra:</a:t>
            </a:r>
            <a:endParaRPr lang="it-IT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4077072"/>
            <a:ext cx="3838575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asellaDiTesto 13"/>
          <p:cNvSpPr txBox="1"/>
          <p:nvPr/>
        </p:nvSpPr>
        <p:spPr>
          <a:xfrm>
            <a:off x="179512" y="4941168"/>
            <a:ext cx="8820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Il valore atteso della variabile aleatoria </a:t>
            </a:r>
            <a:r>
              <a:rPr lang="it-IT" i="1" dirty="0" smtClean="0"/>
              <a:t>g</a:t>
            </a:r>
            <a:r>
              <a:rPr lang="it-IT" dirty="0" smtClean="0"/>
              <a:t>(</a:t>
            </a:r>
            <a:r>
              <a:rPr lang="it-IT" i="1" dirty="0" err="1" smtClean="0"/>
              <a:t>X</a:t>
            </a:r>
            <a:r>
              <a:rPr lang="it-IT" i="1" baseline="-25000" dirty="0" err="1" smtClean="0"/>
              <a:t>t</a:t>
            </a:r>
            <a:r>
              <a:rPr lang="it-IT" dirty="0" smtClean="0"/>
              <a:t>), condizionato al fatto che la particella al tempo t=0 si trovi in x, è uguale all’integrale della densità di probabilità di transizione per g.</a:t>
            </a:r>
          </a:p>
          <a:p>
            <a:r>
              <a:rPr lang="it-IT" dirty="0" smtClean="0"/>
              <a:t>Quindi:</a:t>
            </a:r>
            <a:endParaRPr lang="it-IT" dirty="0"/>
          </a:p>
        </p:txBody>
      </p:sp>
      <p:grpSp>
        <p:nvGrpSpPr>
          <p:cNvPr id="12" name="Gruppo 11"/>
          <p:cNvGrpSpPr/>
          <p:nvPr/>
        </p:nvGrpSpPr>
        <p:grpSpPr>
          <a:xfrm>
            <a:off x="1331640" y="5696580"/>
            <a:ext cx="6336704" cy="1161420"/>
            <a:chOff x="1475656" y="5589240"/>
            <a:chExt cx="6336704" cy="1161420"/>
          </a:xfrm>
        </p:grpSpPr>
        <p:sp>
          <p:nvSpPr>
            <p:cNvPr id="16" name="CasellaDiTesto 15"/>
            <p:cNvSpPr txBox="1"/>
            <p:nvPr/>
          </p:nvSpPr>
          <p:spPr>
            <a:xfrm>
              <a:off x="2123728" y="6381328"/>
              <a:ext cx="55446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smtClean="0"/>
                <a:t>(Significato probabilistico dell’equazione del calore)</a:t>
              </a:r>
              <a:endParaRPr lang="it-IT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75656" y="5589240"/>
              <a:ext cx="6336704" cy="868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3" grpId="0" build="p"/>
      <p:bldP spid="1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332656"/>
            <a:ext cx="8784976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Significato probabilistico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dell’equazione di Laplace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67544" y="1556792"/>
            <a:ext cx="8280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Consideriamo ora una particella che si muove di moto browniano in un dominio limitato Ω⊂</a:t>
            </a:r>
            <a:r>
              <a:rPr lang="it-IT" dirty="0" err="1" smtClean="0"/>
              <a:t>Rⁿ</a:t>
            </a:r>
            <a:r>
              <a:rPr lang="it-IT" dirty="0" smtClean="0"/>
              <a:t>, partendo da  un punto x∈Ω all'istante t=0.</a:t>
            </a:r>
          </a:p>
          <a:p>
            <a:r>
              <a:rPr lang="it-IT" dirty="0" smtClean="0"/>
              <a:t>Poiché lo spostamento medio atteso dopo un tempo t è proporzionale a </a:t>
            </a:r>
            <a:r>
              <a:rPr lang="it-IT" dirty="0" err="1" smtClean="0"/>
              <a:t>√t</a:t>
            </a:r>
            <a:r>
              <a:rPr lang="it-IT" dirty="0" smtClean="0"/>
              <a:t>, ci aspettiamo che prima o poi la particella uscirà da Ω. </a:t>
            </a:r>
          </a:p>
          <a:p>
            <a:r>
              <a:rPr lang="it-IT" dirty="0" smtClean="0"/>
              <a:t>Definiamo la variabile aleatoria “istante di prima uscita”: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2996952"/>
            <a:ext cx="3096344" cy="548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uppo 6"/>
          <p:cNvGrpSpPr/>
          <p:nvPr/>
        </p:nvGrpSpPr>
        <p:grpSpPr>
          <a:xfrm>
            <a:off x="467544" y="3645024"/>
            <a:ext cx="5676094" cy="369332"/>
            <a:chOff x="467544" y="3645024"/>
            <a:chExt cx="5676094" cy="369332"/>
          </a:xfrm>
        </p:grpSpPr>
        <p:sp>
          <p:nvSpPr>
            <p:cNvPr id="5" name="CasellaDiTesto 4"/>
            <p:cNvSpPr txBox="1"/>
            <p:nvPr/>
          </p:nvSpPr>
          <p:spPr>
            <a:xfrm>
              <a:off x="467544" y="3645024"/>
              <a:ext cx="52927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Il punto (aleatorio) del bordo da cui la particella esce è</a:t>
              </a:r>
              <a:endParaRPr lang="it-IT" dirty="0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24128" y="3686547"/>
              <a:ext cx="419510" cy="318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" name="Immagine 8" descr="moto_browniano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15816" y="4077072"/>
            <a:ext cx="3375546" cy="2515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332656"/>
            <a:ext cx="8784976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Significato probabilistico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dell’equazione di Laplace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467544" y="1484784"/>
            <a:ext cx="78488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Consideriamo ora questo “gioco d'azzardo”:</a:t>
            </a:r>
          </a:p>
          <a:p>
            <a:r>
              <a:rPr lang="it-IT" dirty="0" smtClean="0"/>
              <a:t>si assegna una funzione continua </a:t>
            </a:r>
            <a:r>
              <a:rPr lang="it-IT" i="1" dirty="0" smtClean="0"/>
              <a:t>f</a:t>
            </a:r>
            <a:r>
              <a:rPr lang="it-IT" dirty="0" smtClean="0"/>
              <a:t> su ∂Ω; si colloca la particella all'istante t=0 in un punto x∈Ω e la si lascia muovere di moto browniano finché raggiunge per la prima volta ∂Ω; </a:t>
            </a:r>
          </a:p>
          <a:p>
            <a:r>
              <a:rPr lang="it-IT" dirty="0" smtClean="0"/>
              <a:t>quando questo accade, si calcola il valore di f nel punto di ∂Ω da cui la particella è uscita: quel valore rappresenta la vincita (o perdita, se è negativo) del nostro gioco. </a:t>
            </a:r>
          </a:p>
          <a:p>
            <a:r>
              <a:rPr lang="it-IT" dirty="0" smtClean="0"/>
              <a:t>Ci chiediamo quale sia la </a:t>
            </a:r>
            <a:r>
              <a:rPr lang="it-IT" i="1" dirty="0" smtClean="0"/>
              <a:t>vincita attesa</a:t>
            </a:r>
            <a:r>
              <a:rPr lang="it-IT" dirty="0" smtClean="0"/>
              <a:t>. Ovviamente dipende dal punto x di partenza, è una funzione u(x).</a:t>
            </a:r>
            <a:endParaRPr lang="it-IT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467544" y="4077072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La vincita attesa u(x) è: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4509120"/>
            <a:ext cx="2314203" cy="446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sellaDiTesto 10"/>
          <p:cNvSpPr txBox="1"/>
          <p:nvPr/>
        </p:nvSpPr>
        <p:spPr>
          <a:xfrm>
            <a:off x="395536" y="5157192"/>
            <a:ext cx="8424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Cioè il valore atteso della funzione </a:t>
            </a:r>
            <a:r>
              <a:rPr lang="it-IT" i="1" dirty="0" smtClean="0"/>
              <a:t>f</a:t>
            </a:r>
            <a:r>
              <a:rPr lang="it-IT" dirty="0" smtClean="0"/>
              <a:t> nel punto di prima uscita </a:t>
            </a:r>
            <a:r>
              <a:rPr lang="it-IT" i="1" dirty="0" smtClean="0"/>
              <a:t>X</a:t>
            </a:r>
            <a:r>
              <a:rPr lang="el-GR" i="1" baseline="-25000" dirty="0" smtClean="0"/>
              <a:t>τΏ</a:t>
            </a:r>
            <a:r>
              <a:rPr lang="it-IT" dirty="0" smtClean="0"/>
              <a:t>, condizionata al fatto che la particella sia partita da x.</a:t>
            </a:r>
          </a:p>
          <a:p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467544" y="332656"/>
            <a:ext cx="8229600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Significato probabilistico </a:t>
            </a:r>
            <a:b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dell’equazione di Laplace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412776"/>
            <a:ext cx="2746251" cy="529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sellaDiTesto 9"/>
          <p:cNvSpPr txBox="1"/>
          <p:nvPr/>
        </p:nvSpPr>
        <p:spPr>
          <a:xfrm>
            <a:off x="539552" y="2060848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Affermiamo che questa funzione è anche, dal punto di vista analitico, la soluzione del problema di </a:t>
            </a:r>
            <a:r>
              <a:rPr lang="it-IT" dirty="0" err="1" smtClean="0"/>
              <a:t>Dirichlet</a:t>
            </a:r>
            <a:r>
              <a:rPr lang="it-IT" dirty="0" smtClean="0"/>
              <a:t>:</a:t>
            </a:r>
            <a:endParaRPr lang="it-IT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2852936"/>
            <a:ext cx="2232248" cy="84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sellaDiTesto 11"/>
          <p:cNvSpPr txBox="1"/>
          <p:nvPr/>
        </p:nvSpPr>
        <p:spPr>
          <a:xfrm>
            <a:off x="539552" y="4005064"/>
            <a:ext cx="8280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La condizione al contorno è ovvia per il significato probabilistico: se x∈∂Ω, cioè la particella parte da un punto che è già sul bordo, l'istante di prima uscita è t=0 e il punto di prima uscita è certamente x stesso, perciò in questo caso f(</a:t>
            </a:r>
            <a:r>
              <a:rPr lang="it-IT" dirty="0" err="1" smtClean="0"/>
              <a:t>X</a:t>
            </a:r>
            <a:r>
              <a:rPr lang="it-IT" baseline="-25000" dirty="0" err="1" smtClean="0"/>
              <a:t>τΩ</a:t>
            </a:r>
            <a:r>
              <a:rPr lang="it-IT" dirty="0" smtClean="0"/>
              <a:t>)</a:t>
            </a:r>
            <a:r>
              <a:rPr lang="it-IT" dirty="0" err="1" smtClean="0"/>
              <a:t>=f</a:t>
            </a:r>
            <a:r>
              <a:rPr lang="it-IT" dirty="0" smtClean="0"/>
              <a:t>(x).</a:t>
            </a:r>
          </a:p>
          <a:p>
            <a:r>
              <a:rPr lang="it-IT" dirty="0" smtClean="0"/>
              <a:t>Proviamo che u(x) è armonica all’interno del dominio, dimostrando che </a:t>
            </a:r>
            <a:r>
              <a:rPr lang="it-IT" i="1" dirty="0" smtClean="0"/>
              <a:t>soddisfa la proprietà di media</a:t>
            </a:r>
            <a:r>
              <a:rPr lang="it-IT" dirty="0" smtClean="0"/>
              <a:t>: per ogni sfera B</a:t>
            </a:r>
            <a:r>
              <a:rPr lang="it-IT" baseline="-25000" dirty="0" smtClean="0"/>
              <a:t>r</a:t>
            </a:r>
            <a:r>
              <a:rPr lang="it-IT" dirty="0" smtClean="0"/>
              <a:t>(x) la cui chiusura è ⊂Ω risulta:</a:t>
            </a:r>
            <a:endParaRPr lang="it-IT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5589240"/>
            <a:ext cx="4104456" cy="822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467544" y="332656"/>
            <a:ext cx="8229600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Significato probabilistico </a:t>
            </a:r>
            <a:b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dell’equazione di Laplace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67544" y="1556792"/>
            <a:ext cx="8280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Per far questo, calcoliamo il valore atteso E</a:t>
            </a:r>
            <a:r>
              <a:rPr lang="it-IT" i="1" baseline="30000" dirty="0" smtClean="0"/>
              <a:t>x</a:t>
            </a:r>
            <a:r>
              <a:rPr lang="it-IT" dirty="0" smtClean="0"/>
              <a:t>(</a:t>
            </a:r>
            <a:r>
              <a:rPr lang="it-IT" i="1" dirty="0" smtClean="0"/>
              <a:t>f</a:t>
            </a:r>
            <a:r>
              <a:rPr lang="it-IT" dirty="0" smtClean="0"/>
              <a:t>(</a:t>
            </a:r>
            <a:r>
              <a:rPr lang="it-IT" i="1" dirty="0" err="1" smtClean="0"/>
              <a:t>X</a:t>
            </a:r>
            <a:r>
              <a:rPr lang="it-IT" baseline="-25000" dirty="0" err="1" smtClean="0"/>
              <a:t>τΩ</a:t>
            </a:r>
            <a:r>
              <a:rPr lang="it-IT" dirty="0" smtClean="0"/>
              <a:t>)) facendo ricorso a un argomento di valore atteso condizionato che segue dalla versione nel continuo del teorema delle probabilità totali. </a:t>
            </a:r>
          </a:p>
          <a:p>
            <a:r>
              <a:rPr lang="it-IT" dirty="0" smtClean="0"/>
              <a:t>Consideriamo una sferetta B</a:t>
            </a:r>
            <a:r>
              <a:rPr lang="it-IT" baseline="-25000" dirty="0" smtClean="0"/>
              <a:t>r</a:t>
            </a:r>
            <a:r>
              <a:rPr lang="it-IT" dirty="0" smtClean="0"/>
              <a:t>(x) tale che B</a:t>
            </a:r>
            <a:r>
              <a:rPr lang="it-IT" baseline="-25000" dirty="0" smtClean="0"/>
              <a:t>r</a:t>
            </a:r>
            <a:r>
              <a:rPr lang="it-IT" dirty="0" smtClean="0"/>
              <a:t>(x)⊂Ω e seguiamo la particella che, partita da x, prima o poi raggiunge ∂Ω. </a:t>
            </a:r>
          </a:p>
          <a:p>
            <a:r>
              <a:rPr lang="it-IT" dirty="0" smtClean="0"/>
              <a:t>Prima di raggiungere ∂Ω dovrà necessariamente attraversare ∂B</a:t>
            </a:r>
            <a:r>
              <a:rPr lang="it-IT" baseline="-25000" dirty="0" smtClean="0"/>
              <a:t>r</a:t>
            </a:r>
            <a:r>
              <a:rPr lang="it-IT" dirty="0" smtClean="0"/>
              <a:t>(x) in qualche punto z.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3429000"/>
            <a:ext cx="4145855" cy="28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467544" y="188640"/>
            <a:ext cx="8229600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Significato probabilistico </a:t>
            </a:r>
            <a:b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it-IT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dell’equazione di Laplace</a:t>
            </a:r>
            <a:endParaRPr kumimoji="0" lang="it-IT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40768"/>
            <a:ext cx="3816424" cy="261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sellaDiTesto 4"/>
          <p:cNvSpPr txBox="1"/>
          <p:nvPr/>
        </p:nvSpPr>
        <p:spPr>
          <a:xfrm>
            <a:off x="4067944" y="1268760"/>
            <a:ext cx="4608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Se p(x,z) è la densità di probabilità che la particella partita da x esca da B</a:t>
            </a:r>
            <a:r>
              <a:rPr lang="it-IT" baseline="-25000" dirty="0" smtClean="0"/>
              <a:t>r</a:t>
            </a:r>
            <a:r>
              <a:rPr lang="it-IT" dirty="0" smtClean="0"/>
              <a:t>(x) per la prima volta nel punto z∈∂B</a:t>
            </a:r>
            <a:r>
              <a:rPr lang="it-IT" baseline="-25000" dirty="0" smtClean="0"/>
              <a:t>r</a:t>
            </a:r>
            <a:r>
              <a:rPr lang="it-IT" dirty="0" smtClean="0"/>
              <a:t>(x), possiamo calcolare E</a:t>
            </a:r>
            <a:r>
              <a:rPr lang="it-IT" i="1" baseline="30000" dirty="0" smtClean="0"/>
              <a:t>x</a:t>
            </a:r>
            <a:r>
              <a:rPr lang="it-IT" dirty="0" smtClean="0"/>
              <a:t>(</a:t>
            </a:r>
            <a:r>
              <a:rPr lang="it-IT" i="1" dirty="0" smtClean="0"/>
              <a:t>f</a:t>
            </a:r>
            <a:r>
              <a:rPr lang="it-IT" dirty="0" smtClean="0"/>
              <a:t>(</a:t>
            </a:r>
            <a:r>
              <a:rPr lang="it-IT" i="1" dirty="0" err="1" smtClean="0"/>
              <a:t>X</a:t>
            </a:r>
            <a:r>
              <a:rPr lang="it-IT" baseline="-25000" dirty="0" err="1" smtClean="0"/>
              <a:t>τΩ</a:t>
            </a:r>
            <a:r>
              <a:rPr lang="it-IT" dirty="0" smtClean="0"/>
              <a:t>)) spezzando la traiettoria in due parti: </a:t>
            </a:r>
          </a:p>
          <a:p>
            <a:r>
              <a:rPr lang="it-IT" dirty="0" smtClean="0"/>
              <a:t>prima da x a un punto (aleatorio) z∈∂B</a:t>
            </a:r>
            <a:r>
              <a:rPr lang="it-IT" baseline="-25000" dirty="0" smtClean="0"/>
              <a:t>r</a:t>
            </a:r>
            <a:r>
              <a:rPr lang="it-IT" dirty="0" smtClean="0"/>
              <a:t>(x) e poi da z a ∂Ω. Quindi:</a:t>
            </a:r>
            <a:endParaRPr lang="it-IT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3068960"/>
            <a:ext cx="4824536" cy="699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sellaDiTesto 6"/>
          <p:cNvSpPr txBox="1"/>
          <p:nvPr/>
        </p:nvSpPr>
        <p:spPr>
          <a:xfrm>
            <a:off x="323528" y="4005064"/>
            <a:ext cx="8424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D'altro canto la particella che parte da x si muove con probabilità </a:t>
            </a:r>
            <a:r>
              <a:rPr lang="it-IT" i="1" dirty="0" smtClean="0"/>
              <a:t>uniforme in ogni direzione</a:t>
            </a:r>
            <a:r>
              <a:rPr lang="it-IT" dirty="0" smtClean="0"/>
              <a:t>, perciò partendo dal centro x della sferetta raggiungerà il bordo della sferetta con probabilità uniforme su ∂B</a:t>
            </a:r>
            <a:r>
              <a:rPr lang="it-IT" baseline="-25000" dirty="0" smtClean="0"/>
              <a:t>r</a:t>
            </a:r>
            <a:r>
              <a:rPr lang="it-IT" dirty="0" smtClean="0"/>
              <a:t>(x), in altre parole:</a:t>
            </a:r>
            <a:endParaRPr lang="it-IT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5736" y="4869160"/>
            <a:ext cx="4536504" cy="66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536" y="5517232"/>
            <a:ext cx="8640960" cy="710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sellaDiTesto 10"/>
          <p:cNvSpPr txBox="1"/>
          <p:nvPr/>
        </p:nvSpPr>
        <p:spPr>
          <a:xfrm>
            <a:off x="395536" y="6309320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Perciò u(x) soddisfa la proprietà di media e quindi è armonica.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  <p:bldP spid="11" grpId="0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1367</Words>
  <Application>Microsoft Office PowerPoint</Application>
  <PresentationFormat>Presentazione su schermo (4:3)</PresentationFormat>
  <Paragraphs>74</Paragraphs>
  <Slides>15</Slides>
  <Notes>0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6" baseType="lpstr">
      <vt:lpstr>Tema di Office</vt:lpstr>
      <vt:lpstr>Significati probabilistici  di alcune equazioni alle derivate parziali</vt:lpstr>
      <vt:lpstr>Il moto browniano</vt:lpstr>
      <vt:lpstr>Il moto browniano</vt:lpstr>
      <vt:lpstr>Diapositiva 4</vt:lpstr>
      <vt:lpstr>Diapositiva 5</vt:lpstr>
      <vt:lpstr>Diapositiva 6</vt:lpstr>
      <vt:lpstr>Diapositiva 7</vt:lpstr>
      <vt:lpstr>Significato probabilistico  dell’equazione del calore</vt:lpstr>
      <vt:lpstr>Significato probabilistico  dell’equazione del calore</vt:lpstr>
      <vt:lpstr>Significato probabilistico  dell’equazione del calore</vt:lpstr>
      <vt:lpstr>Diapositiva 11</vt:lpstr>
      <vt:lpstr>Diapositiva 12</vt:lpstr>
      <vt:lpstr>Diapositiva 13</vt:lpstr>
      <vt:lpstr>Diapositiva 14</vt:lpstr>
      <vt:lpstr>Diapositiva 15</vt:lpstr>
    </vt:vector>
  </TitlesOfParts>
  <Company>BASTARDS TeaM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Significati probabilistici  di alcune equazioni alle derivate parziali</dc:title>
  <dc:creator>Marco</dc:creator>
  <cp:lastModifiedBy>Marco</cp:lastModifiedBy>
  <cp:revision>75</cp:revision>
  <dcterms:created xsi:type="dcterms:W3CDTF">2022-01-29T15:31:14Z</dcterms:created>
  <dcterms:modified xsi:type="dcterms:W3CDTF">2023-03-22T22:52:11Z</dcterms:modified>
</cp:coreProperties>
</file>