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0" r:id="rId4"/>
    <p:sldId id="258" r:id="rId5"/>
    <p:sldId id="259" r:id="rId6"/>
    <p:sldId id="261" r:id="rId7"/>
    <p:sldId id="263" r:id="rId8"/>
    <p:sldId id="264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05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382FC-67A0-411A-85AE-A0E689258A4F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9DC964-0420-4631-B54C-560B23220540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8A2-7F29-40E1-8251-BF1121012417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91A8-CE94-4CE5-9B98-457623183DB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8A2-7F29-40E1-8251-BF1121012417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91A8-CE94-4CE5-9B98-457623183DB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8A2-7F29-40E1-8251-BF1121012417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91A8-CE94-4CE5-9B98-457623183DB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8A2-7F29-40E1-8251-BF1121012417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91A8-CE94-4CE5-9B98-457623183DB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8A2-7F29-40E1-8251-BF1121012417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91A8-CE94-4CE5-9B98-457623183DB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8A2-7F29-40E1-8251-BF1121012417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91A8-CE94-4CE5-9B98-457623183DB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8A2-7F29-40E1-8251-BF1121012417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91A8-CE94-4CE5-9B98-457623183DB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8A2-7F29-40E1-8251-BF1121012417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91A8-CE94-4CE5-9B98-457623183DB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8A2-7F29-40E1-8251-BF1121012417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91A8-CE94-4CE5-9B98-457623183DB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8A2-7F29-40E1-8251-BF1121012417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91A8-CE94-4CE5-9B98-457623183DB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8A2-7F29-40E1-8251-BF1121012417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91A8-CE94-4CE5-9B98-457623183DB3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2A8A2-7F29-40E1-8251-BF1121012417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A91A8-CE94-4CE5-9B98-457623183DB3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3568" y="1412776"/>
            <a:ext cx="7772400" cy="1470025"/>
          </a:xfrm>
        </p:spPr>
        <p:txBody>
          <a:bodyPr/>
          <a:lstStyle/>
          <a:p>
            <a:r>
              <a:rPr lang="it-IT" dirty="0" smtClean="0"/>
              <a:t>Uno sguardo d’insieme sulle EDP lineari del </a:t>
            </a:r>
            <a:r>
              <a:rPr lang="it-IT" dirty="0" err="1" smtClean="0"/>
              <a:t>second</a:t>
            </a:r>
            <a:r>
              <a:rPr lang="it-IT" dirty="0" smtClean="0"/>
              <a:t>’ordine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31640" y="3356992"/>
            <a:ext cx="6400800" cy="1752600"/>
          </a:xfrm>
        </p:spPr>
        <p:txBody>
          <a:bodyPr/>
          <a:lstStyle/>
          <a:p>
            <a:r>
              <a:rPr lang="it-IT" dirty="0" smtClean="0"/>
              <a:t>La classificazione delle equazioni </a:t>
            </a:r>
            <a:br>
              <a:rPr lang="it-IT" dirty="0" smtClean="0"/>
            </a:br>
            <a:r>
              <a:rPr lang="it-IT" dirty="0" smtClean="0"/>
              <a:t>in base al tipo: </a:t>
            </a:r>
            <a:br>
              <a:rPr lang="it-IT" dirty="0" smtClean="0"/>
            </a:br>
            <a:r>
              <a:rPr lang="it-IT" dirty="0" smtClean="0"/>
              <a:t>ellittico, parabolico, iperbolico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Qualche confronto  tra le equazioni studiate fin qui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it-IT" dirty="0" smtClean="0"/>
              <a:t> Abbiamo studiato 3 equazioni lineari del 2° ordine a coefficienti costanti: Laplace, Calore, Onde. </a:t>
            </a:r>
          </a:p>
          <a:p>
            <a:r>
              <a:rPr lang="it-IT" dirty="0" smtClean="0"/>
              <a:t>Hanno proprietà molto diverse.    </a:t>
            </a:r>
          </a:p>
          <a:p>
            <a:r>
              <a:rPr lang="it-IT" dirty="0" smtClean="0"/>
              <a:t>L’equazione di Laplace è stazionaria, mentre le equazioni del Calore e delle Onde sono di evoluzione. </a:t>
            </a:r>
          </a:p>
          <a:p>
            <a:r>
              <a:rPr lang="it-IT" dirty="0" smtClean="0"/>
              <a:t>Anche prescindendo dal significato fisico di una variabile che si pensa come “variabile tempo”, dal punto di vista matematico:</a:t>
            </a:r>
          </a:p>
          <a:p>
            <a:r>
              <a:rPr lang="it-IT" dirty="0" smtClean="0"/>
              <a:t>sono diversi i </a:t>
            </a:r>
            <a:r>
              <a:rPr lang="it-IT" b="1" dirty="0" smtClean="0"/>
              <a:t>problemi al contorno </a:t>
            </a:r>
            <a:r>
              <a:rPr lang="it-IT" dirty="0" smtClean="0"/>
              <a:t>che è naturale studiare, e per i quali si dimostra che il </a:t>
            </a:r>
            <a:r>
              <a:rPr lang="it-IT" i="1" dirty="0" smtClean="0"/>
              <a:t>problema è ben posto</a:t>
            </a:r>
            <a:r>
              <a:rPr lang="it-IT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dirty="0" smtClean="0"/>
              <a:t>Problemi naturali da studiare</a:t>
            </a:r>
            <a:endParaRPr lang="it-IT" sz="4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340768"/>
            <a:ext cx="8420969" cy="4794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39552" y="1484784"/>
            <a:ext cx="8229600" cy="4968552"/>
          </a:xfrm>
        </p:spPr>
        <p:txBody>
          <a:bodyPr>
            <a:noAutofit/>
          </a:bodyPr>
          <a:lstStyle/>
          <a:p>
            <a:r>
              <a:rPr lang="it-IT" sz="2400" dirty="0" smtClean="0"/>
              <a:t>L’equazione del calore ha in sé “</a:t>
            </a:r>
            <a:r>
              <a:rPr lang="it-IT" sz="2400" b="1" dirty="0" smtClean="0"/>
              <a:t>la freccia del tempo</a:t>
            </a:r>
            <a:r>
              <a:rPr lang="it-IT" sz="2400" dirty="0" smtClean="0"/>
              <a:t>”: </a:t>
            </a:r>
          </a:p>
          <a:p>
            <a:r>
              <a:rPr lang="it-IT" sz="2400" dirty="0" smtClean="0"/>
              <a:t>il dato si assegna sulla </a:t>
            </a:r>
            <a:r>
              <a:rPr lang="it-IT" sz="2400" i="1" dirty="0" smtClean="0"/>
              <a:t>frontiera parabolica</a:t>
            </a:r>
            <a:r>
              <a:rPr lang="it-IT" sz="2400" dirty="0" smtClean="0"/>
              <a:t>;</a:t>
            </a:r>
          </a:p>
          <a:p>
            <a:r>
              <a:rPr lang="it-IT" sz="2400" dirty="0" smtClean="0"/>
              <a:t>Il problema </a:t>
            </a:r>
            <a:r>
              <a:rPr lang="it-IT" sz="2400" i="1" dirty="0" smtClean="0"/>
              <a:t>in avanti </a:t>
            </a:r>
            <a:r>
              <a:rPr lang="it-IT" sz="2400" dirty="0" smtClean="0"/>
              <a:t>è ben posto, il problema </a:t>
            </a:r>
            <a:r>
              <a:rPr lang="it-IT" sz="2400" i="1" dirty="0" smtClean="0"/>
              <a:t>retrogrado</a:t>
            </a:r>
            <a:r>
              <a:rPr lang="it-IT" sz="2400" dirty="0" smtClean="0"/>
              <a:t> è </a:t>
            </a:r>
            <a:r>
              <a:rPr lang="it-IT" sz="2400" dirty="0" err="1" smtClean="0"/>
              <a:t>malposto</a:t>
            </a:r>
            <a:r>
              <a:rPr lang="it-IT" sz="2400" dirty="0" smtClean="0"/>
              <a:t>.</a:t>
            </a:r>
          </a:p>
          <a:p>
            <a:r>
              <a:rPr lang="it-IT" sz="2400" dirty="0" smtClean="0"/>
              <a:t>L’equazione delle onde è invariante per riflessioni temporali: </a:t>
            </a:r>
          </a:p>
          <a:p>
            <a:r>
              <a:rPr lang="it-IT" sz="2400" dirty="0" smtClean="0"/>
              <a:t>problema in avanti o all’indietro si equivalgono (l’equazione non ha la freccia del tempo).</a:t>
            </a:r>
          </a:p>
        </p:txBody>
      </p:sp>
      <p:sp>
        <p:nvSpPr>
          <p:cNvPr id="4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it-IT" sz="4000" dirty="0" smtClean="0"/>
              <a:t>La freccia del tempo</a:t>
            </a:r>
            <a:endParaRPr lang="it-IT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1124744"/>
            <a:ext cx="8568952" cy="6048672"/>
          </a:xfrm>
        </p:spPr>
        <p:txBody>
          <a:bodyPr>
            <a:noAutofit/>
          </a:bodyPr>
          <a:lstStyle/>
          <a:p>
            <a:r>
              <a:rPr lang="it-IT" sz="2400" dirty="0" smtClean="0"/>
              <a:t>Le equazioni di Laplace e del calore </a:t>
            </a:r>
            <a:r>
              <a:rPr lang="it-IT" sz="2400" i="1" dirty="0" smtClean="0"/>
              <a:t>regolarizzano</a:t>
            </a:r>
            <a:r>
              <a:rPr lang="it-IT" sz="2400" dirty="0" smtClean="0"/>
              <a:t>: la soluzione dell’equazione omogenea è infinitamente derivabile all’interno del dominio (spaziale o spazio-temporale).</a:t>
            </a:r>
          </a:p>
          <a:p>
            <a:r>
              <a:rPr lang="it-IT" sz="2400" dirty="0" smtClean="0"/>
              <a:t>L’equazione delle onde </a:t>
            </a:r>
            <a:r>
              <a:rPr lang="it-IT" sz="2400" i="1" dirty="0" smtClean="0"/>
              <a:t>non regolarizza</a:t>
            </a:r>
            <a:r>
              <a:rPr lang="it-IT" sz="2400" dirty="0" smtClean="0"/>
              <a:t>: </a:t>
            </a:r>
          </a:p>
          <a:p>
            <a:r>
              <a:rPr lang="it-IT" sz="2400" dirty="0" smtClean="0"/>
              <a:t>la soluzione ha la stessa regolarità delle condizioni iniziali (corda vibrante), o addirittura peggio (onde 3D, v. formula di </a:t>
            </a:r>
            <a:r>
              <a:rPr lang="it-IT" sz="2400" dirty="0" err="1" smtClean="0"/>
              <a:t>Kirchhoff</a:t>
            </a:r>
            <a:r>
              <a:rPr lang="it-IT" sz="2400" dirty="0" smtClean="0"/>
              <a:t>).</a:t>
            </a:r>
          </a:p>
          <a:p>
            <a:r>
              <a:rPr lang="it-IT" sz="2400" dirty="0" smtClean="0"/>
              <a:t>La proprietà di non regolarizzare è legata al fatto che (ad es. per la corda vibrante) </a:t>
            </a:r>
            <a:r>
              <a:rPr lang="it-IT" sz="2400" i="1" dirty="0" smtClean="0"/>
              <a:t>l’informazione contenuta nelle condizioni iniziali è trasportata lungo due famiglie di rette </a:t>
            </a:r>
            <a:r>
              <a:rPr lang="it-IT" sz="2400" dirty="0" smtClean="0"/>
              <a:t>(nello spazio-tempo) dette </a:t>
            </a:r>
            <a:r>
              <a:rPr lang="it-IT" sz="2400" i="1" dirty="0" smtClean="0"/>
              <a:t>rette caratteristiche</a:t>
            </a:r>
            <a:r>
              <a:rPr lang="it-IT" sz="2400" dirty="0" smtClean="0"/>
              <a:t>.</a:t>
            </a:r>
          </a:p>
          <a:p>
            <a:r>
              <a:rPr lang="it-IT" sz="2400" dirty="0" smtClean="0"/>
              <a:t>Le caratteristiche, che prevengono l’effetto di regolarizzazione, d’altro canto permettono di scrivere l’integrale generale dell’equazione. </a:t>
            </a:r>
            <a:endParaRPr lang="it-IT" sz="2400" dirty="0"/>
          </a:p>
          <a:p>
            <a:r>
              <a:rPr lang="it-IT" sz="2400" dirty="0" smtClean="0"/>
              <a:t>(Fenomeno visto anche con l’equazione del trasporto).</a:t>
            </a:r>
            <a:endParaRPr lang="it-IT" sz="2400" dirty="0"/>
          </a:p>
        </p:txBody>
      </p:sp>
      <p:sp>
        <p:nvSpPr>
          <p:cNvPr id="4" name="Titolo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rmAutofit/>
          </a:bodyPr>
          <a:lstStyle/>
          <a:p>
            <a:r>
              <a:rPr lang="it-IT" sz="4000" dirty="0" smtClean="0"/>
              <a:t>Regolarità delle soluzioni</a:t>
            </a:r>
            <a:endParaRPr lang="it-IT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dirty="0" smtClean="0"/>
              <a:t>Teoremi di unicità</a:t>
            </a:r>
            <a:endParaRPr lang="it-IT" sz="40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700808"/>
            <a:ext cx="8229600" cy="2736304"/>
          </a:xfrm>
        </p:spPr>
        <p:txBody>
          <a:bodyPr>
            <a:normAutofit/>
          </a:bodyPr>
          <a:lstStyle/>
          <a:p>
            <a:r>
              <a:rPr lang="it-IT" sz="2400" dirty="0" smtClean="0"/>
              <a:t>Gli argomenti con cui abbiamo stabilito </a:t>
            </a:r>
            <a:r>
              <a:rPr lang="it-IT" sz="2400" i="1" dirty="0" smtClean="0"/>
              <a:t>risultati di unicità </a:t>
            </a:r>
            <a:r>
              <a:rPr lang="it-IT" sz="2400" dirty="0" smtClean="0"/>
              <a:t>sono diversi: </a:t>
            </a:r>
          </a:p>
          <a:p>
            <a:r>
              <a:rPr lang="it-IT" sz="2400" dirty="0" smtClean="0"/>
              <a:t>per Laplace e calore abbiamo stabilito </a:t>
            </a:r>
            <a:r>
              <a:rPr lang="it-IT" sz="2400" i="1" dirty="0" smtClean="0"/>
              <a:t>principi di massimo </a:t>
            </a:r>
            <a:r>
              <a:rPr lang="it-IT" sz="2400" dirty="0" smtClean="0"/>
              <a:t>(idea geometrica); </a:t>
            </a:r>
          </a:p>
          <a:p>
            <a:r>
              <a:rPr lang="it-IT" sz="2400" dirty="0" smtClean="0"/>
              <a:t>per l’equazione delle onde abbiamo utilizzato il </a:t>
            </a:r>
            <a:r>
              <a:rPr lang="it-IT" sz="2400" i="1" dirty="0" smtClean="0"/>
              <a:t>metodo dell’energia </a:t>
            </a:r>
            <a:r>
              <a:rPr lang="it-IT" sz="2400" dirty="0" smtClean="0"/>
              <a:t>(idea fisica).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contenuto 2"/>
          <p:cNvSpPr txBox="1">
            <a:spLocks/>
          </p:cNvSpPr>
          <p:nvPr/>
        </p:nvSpPr>
        <p:spPr>
          <a:xfrm>
            <a:off x="467544" y="260648"/>
            <a:ext cx="8229600" cy="2448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sz="2400" dirty="0"/>
              <a:t>Ci sono quindi </a:t>
            </a:r>
            <a:r>
              <a:rPr lang="it-IT" sz="2400" i="1" dirty="0"/>
              <a:t>differenze profonde</a:t>
            </a:r>
            <a:r>
              <a:rPr lang="it-IT" sz="2400" dirty="0"/>
              <a:t> tra queste tre equazioni, anche se sono tutte lineari del </a:t>
            </a:r>
            <a:r>
              <a:rPr lang="it-IT" sz="2400" dirty="0" err="1" smtClean="0"/>
              <a:t>second</a:t>
            </a:r>
            <a:r>
              <a:rPr lang="it-IT" sz="2400" dirty="0" smtClean="0"/>
              <a:t>’ordine </a:t>
            </a:r>
            <a:r>
              <a:rPr lang="it-IT" sz="2400" dirty="0"/>
              <a:t>a coefficienti </a:t>
            </a:r>
            <a:r>
              <a:rPr lang="it-IT" sz="2400" dirty="0" smtClean="0"/>
              <a:t>costanti.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sz="2400" dirty="0" smtClean="0"/>
              <a:t>A </a:t>
            </a:r>
            <a:r>
              <a:rPr lang="it-IT" sz="2400" dirty="0"/>
              <a:t>uno sguardo superficiale si potrebbero pensare molto simili: </a:t>
            </a:r>
            <a:endParaRPr lang="it-IT" sz="2400" dirty="0" smtClean="0"/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sz="2400" dirty="0" smtClean="0"/>
              <a:t>perché </a:t>
            </a:r>
            <a:r>
              <a:rPr lang="it-IT" sz="2400" dirty="0"/>
              <a:t>dovremmo aspettarci grandi differenze </a:t>
            </a:r>
            <a:r>
              <a:rPr lang="it-IT" sz="2400" dirty="0" smtClean="0"/>
              <a:t>tra</a:t>
            </a:r>
          </a:p>
        </p:txBody>
      </p:sp>
      <p:sp>
        <p:nvSpPr>
          <p:cNvPr id="5" name="Segnaposto contenuto 2"/>
          <p:cNvSpPr txBox="1">
            <a:spLocks/>
          </p:cNvSpPr>
          <p:nvPr/>
        </p:nvSpPr>
        <p:spPr>
          <a:xfrm>
            <a:off x="467544" y="3140968"/>
            <a:ext cx="8229600" cy="2952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sz="2400" dirty="0" smtClean="0"/>
              <a:t>Commentare </a:t>
            </a:r>
            <a:r>
              <a:rPr lang="it-IT" sz="2400" dirty="0"/>
              <a:t>questo fatto dicendo che dal punto di vista fisico è chiaro che, ad </a:t>
            </a:r>
            <a:r>
              <a:rPr lang="it-IT" sz="2400" dirty="0" smtClean="0"/>
              <a:t>esempio, onde </a:t>
            </a:r>
            <a:r>
              <a:rPr lang="it-IT" sz="2400" dirty="0"/>
              <a:t>e </a:t>
            </a:r>
            <a:r>
              <a:rPr lang="it-IT" sz="2400" dirty="0" smtClean="0"/>
              <a:t>calore </a:t>
            </a:r>
            <a:r>
              <a:rPr lang="it-IT" sz="2400" dirty="0"/>
              <a:t>abbiano proprietà diverse, significa solo spostare il problema</a:t>
            </a:r>
            <a:r>
              <a:rPr lang="it-IT" sz="2400" dirty="0" smtClean="0"/>
              <a:t>: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sz="2400" dirty="0" smtClean="0"/>
              <a:t>la </a:t>
            </a:r>
            <a:r>
              <a:rPr lang="it-IT" sz="2400" dirty="0"/>
              <a:t>domanda interessante </a:t>
            </a:r>
            <a:r>
              <a:rPr lang="it-IT" sz="2400" dirty="0" smtClean="0"/>
              <a:t>è </a:t>
            </a:r>
            <a:r>
              <a:rPr lang="it-IT" sz="2400" i="1" dirty="0"/>
              <a:t>capire come, dal punto di vista matematico, queste differenze (fisiche) risultino scritte, depositate, implementate nelle equazioni</a:t>
            </a:r>
            <a:r>
              <a:rPr lang="it-IT" sz="2400" dirty="0" smtClean="0"/>
              <a:t>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sz="2400" dirty="0" smtClean="0"/>
              <a:t>Le tre equazioni viste sono i prototipi di tre classi di EDP: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it-IT" sz="2400" dirty="0" smtClean="0"/>
              <a:t>le equazioni ellittiche (Laplace), paraboliche (Calore) e iperboliche (Onde).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it-IT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2492896"/>
            <a:ext cx="3744416" cy="467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Equazioni ellittiche, </a:t>
            </a:r>
            <a:br>
              <a:rPr lang="it-IT" dirty="0" smtClean="0"/>
            </a:br>
            <a:r>
              <a:rPr lang="it-IT" dirty="0" smtClean="0"/>
              <a:t>paraboliche, iperboliche </a:t>
            </a:r>
            <a:endParaRPr lang="it-IT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2996952"/>
            <a:ext cx="569595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sellaDiTesto 4"/>
          <p:cNvSpPr txBox="1"/>
          <p:nvPr/>
        </p:nvSpPr>
        <p:spPr>
          <a:xfrm>
            <a:off x="395536" y="1556792"/>
            <a:ext cx="828092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smtClean="0"/>
              <a:t>Limitiamoci alle equazioni lineari del </a:t>
            </a:r>
            <a:r>
              <a:rPr lang="it-IT" sz="2400" dirty="0" err="1" smtClean="0"/>
              <a:t>second</a:t>
            </a:r>
            <a:r>
              <a:rPr lang="it-IT" sz="2400" dirty="0" smtClean="0"/>
              <a:t>’ordine, in qualunque numero di variabili e non necessariamente a coefficienti costanti.</a:t>
            </a:r>
          </a:p>
          <a:p>
            <a:r>
              <a:rPr lang="it-IT" sz="2400" dirty="0" smtClean="0"/>
              <a:t>Un operatore di questo tipo si può scrivere così (chiamando </a:t>
            </a:r>
            <a:r>
              <a:rPr lang="it-IT" sz="2400" i="1" dirty="0" smtClean="0"/>
              <a:t>x</a:t>
            </a:r>
            <a:r>
              <a:rPr lang="it-IT" sz="2400" dirty="0" smtClean="0"/>
              <a:t> la variabile </a:t>
            </a:r>
            <a:r>
              <a:rPr lang="it-IT" sz="2400" i="1" dirty="0" smtClean="0"/>
              <a:t>n</a:t>
            </a:r>
            <a:r>
              <a:rPr lang="it-IT" sz="2400" dirty="0" smtClean="0"/>
              <a:t>-dimensionale):</a:t>
            </a:r>
          </a:p>
          <a:p>
            <a:endParaRPr lang="it-IT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539552" y="3861048"/>
            <a:ext cx="8280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smtClean="0"/>
              <a:t>e allora chiameremo </a:t>
            </a:r>
            <a:r>
              <a:rPr lang="it-IT" sz="2400" i="1" dirty="0" smtClean="0"/>
              <a:t>parte principale </a:t>
            </a:r>
            <a:r>
              <a:rPr lang="it-IT" sz="2400" dirty="0" smtClean="0"/>
              <a:t>dell’operatore la parte del </a:t>
            </a:r>
            <a:r>
              <a:rPr lang="it-IT" sz="2400" dirty="0" err="1" smtClean="0"/>
              <a:t>second</a:t>
            </a:r>
            <a:r>
              <a:rPr lang="it-IT" sz="2400" dirty="0" smtClean="0"/>
              <a:t>’ordine, cioè</a:t>
            </a:r>
            <a:endParaRPr lang="it-IT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4365104"/>
            <a:ext cx="2771775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Equazioni ellittiche, </a:t>
            </a:r>
            <a:br>
              <a:rPr lang="it-IT" dirty="0" smtClean="0"/>
            </a:br>
            <a:r>
              <a:rPr lang="it-IT" dirty="0" smtClean="0"/>
              <a:t>paraboliche, iperboliche</a:t>
            </a:r>
            <a:endParaRPr lang="it-IT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395536" y="1556792"/>
            <a:ext cx="8280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smtClean="0"/>
              <a:t>In realtà, per motivi legati alla deduzione fisica del modello differenziale (per esempio nel caso dell'equazione di diffusione), a volte l’equazione si presenta scritta nella forma “di divergenza”</a:t>
            </a:r>
            <a:endParaRPr lang="it-IT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467544" y="3717032"/>
            <a:ext cx="8280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smtClean="0"/>
              <a:t>In questo caso chiameremo ancora parte principale dell’operatore la parte del </a:t>
            </a:r>
            <a:r>
              <a:rPr lang="it-IT" sz="2400" dirty="0" err="1" smtClean="0"/>
              <a:t>second</a:t>
            </a:r>
            <a:r>
              <a:rPr lang="it-IT" sz="2400" dirty="0" smtClean="0"/>
              <a:t>’ordine, cioè</a:t>
            </a:r>
            <a:endParaRPr lang="it-IT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2780928"/>
            <a:ext cx="6705600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4509120"/>
            <a:ext cx="2819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sellaDiTesto 8"/>
          <p:cNvSpPr txBox="1"/>
          <p:nvPr/>
        </p:nvSpPr>
        <p:spPr>
          <a:xfrm>
            <a:off x="467544" y="5380672"/>
            <a:ext cx="81369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Si potrebbe pensare: calcolando le derivate, ogni equazione in forma di divergenza si può riscrivere nella forma standard (detta “di non divergenza”). </a:t>
            </a:r>
          </a:p>
          <a:p>
            <a:r>
              <a:rPr lang="it-IT" dirty="0" smtClean="0"/>
              <a:t>Si preferisce però </a:t>
            </a:r>
            <a:r>
              <a:rPr lang="it-IT" i="1" dirty="0" smtClean="0"/>
              <a:t>non fare </a:t>
            </a:r>
            <a:r>
              <a:rPr lang="it-IT" dirty="0" smtClean="0"/>
              <a:t>quest’operazione, per non dover scrivere le derivate dei coefficienti, e tenersi aperta la possibilità che queste derivate possano non esistere, almeno in senso classico.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836712"/>
            <a:ext cx="8763000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3645024"/>
            <a:ext cx="5934075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olo 5"/>
          <p:cNvSpPr>
            <a:spLocks noGrp="1"/>
          </p:cNvSpPr>
          <p:nvPr>
            <p:ph type="title"/>
          </p:nvPr>
        </p:nvSpPr>
        <p:spPr>
          <a:xfrm>
            <a:off x="539552" y="116632"/>
            <a:ext cx="8003232" cy="922114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Classificazione delle EDP in 2 variabili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60648"/>
            <a:ext cx="6038850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467544" y="764704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Gli operatori a coefficienti non costanti possono cambiare tipo da punto a punto (si parla allora di operatori </a:t>
            </a:r>
            <a:r>
              <a:rPr lang="it-IT" i="1" dirty="0" smtClean="0"/>
              <a:t>di tipo misto</a:t>
            </a:r>
            <a:r>
              <a:rPr lang="it-IT" dirty="0" smtClean="0"/>
              <a:t>), ad esempio:</a:t>
            </a:r>
            <a:endParaRPr lang="it-IT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00808"/>
            <a:ext cx="86487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/>
          <p:cNvSpPr>
            <a:spLocks noGrp="1"/>
          </p:cNvSpPr>
          <p:nvPr>
            <p:ph type="title"/>
          </p:nvPr>
        </p:nvSpPr>
        <p:spPr>
          <a:xfrm>
            <a:off x="539552" y="116632"/>
            <a:ext cx="8003232" cy="922114"/>
          </a:xfrm>
        </p:spPr>
        <p:txBody>
          <a:bodyPr>
            <a:normAutofit/>
          </a:bodyPr>
          <a:lstStyle/>
          <a:p>
            <a:r>
              <a:rPr lang="it-IT" dirty="0" smtClean="0"/>
              <a:t>Operatori ellittici in </a:t>
            </a:r>
            <a:r>
              <a:rPr lang="it-IT" i="1" dirty="0" smtClean="0"/>
              <a:t>n</a:t>
            </a:r>
            <a:r>
              <a:rPr lang="it-IT" dirty="0" smtClean="0"/>
              <a:t> variabili</a:t>
            </a:r>
            <a:endParaRPr lang="it-IT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323528" y="980728"/>
            <a:ext cx="799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/>
              <a:t>Definizione.</a:t>
            </a:r>
            <a:r>
              <a:rPr lang="it-IT" dirty="0" smtClean="0"/>
              <a:t> Un operatore </a:t>
            </a:r>
            <a:r>
              <a:rPr lang="it-IT" i="1" dirty="0" smtClean="0"/>
              <a:t>L</a:t>
            </a:r>
            <a:r>
              <a:rPr lang="it-IT" dirty="0" smtClean="0"/>
              <a:t> lineare del 2° ordine a coefficienti variabili, in forma di divergenza o non divergenza, con parte principale</a:t>
            </a:r>
            <a:endParaRPr lang="it-IT" dirty="0"/>
          </a:p>
        </p:txBody>
      </p:sp>
      <p:grpSp>
        <p:nvGrpSpPr>
          <p:cNvPr id="10" name="Gruppo 9"/>
          <p:cNvGrpSpPr/>
          <p:nvPr/>
        </p:nvGrpSpPr>
        <p:grpSpPr>
          <a:xfrm>
            <a:off x="611560" y="1628800"/>
            <a:ext cx="7668319" cy="838200"/>
            <a:chOff x="611560" y="1988840"/>
            <a:chExt cx="7668319" cy="838200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508104" y="1988840"/>
              <a:ext cx="2771775" cy="819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11560" y="1988840"/>
              <a:ext cx="2819400" cy="838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CasellaDiTesto 8"/>
            <p:cNvSpPr txBox="1"/>
            <p:nvPr/>
          </p:nvSpPr>
          <p:spPr>
            <a:xfrm>
              <a:off x="3923928" y="2204864"/>
              <a:ext cx="8645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 smtClean="0"/>
                <a:t>oppure</a:t>
              </a:r>
              <a:endParaRPr lang="it-IT" dirty="0"/>
            </a:p>
          </p:txBody>
        </p:sp>
      </p:grpSp>
      <p:sp>
        <p:nvSpPr>
          <p:cNvPr id="11" name="CasellaDiTesto 10"/>
          <p:cNvSpPr txBox="1"/>
          <p:nvPr/>
        </p:nvSpPr>
        <p:spPr>
          <a:xfrm>
            <a:off x="467544" y="2564904"/>
            <a:ext cx="8208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si dice </a:t>
            </a:r>
            <a:r>
              <a:rPr lang="it-IT" i="1" dirty="0" smtClean="0"/>
              <a:t>ellittico in un punto x</a:t>
            </a:r>
            <a:r>
              <a:rPr lang="it-IT" dirty="0" smtClean="0"/>
              <a:t> se la matrice </a:t>
            </a:r>
            <a:r>
              <a:rPr lang="it-IT" i="1" dirty="0" err="1" smtClean="0"/>
              <a:t>a</a:t>
            </a:r>
            <a:r>
              <a:rPr lang="it-IT" baseline="-25000" dirty="0" err="1" smtClean="0"/>
              <a:t>ij</a:t>
            </a:r>
            <a:r>
              <a:rPr lang="it-IT" dirty="0" smtClean="0"/>
              <a:t>(</a:t>
            </a:r>
            <a:r>
              <a:rPr lang="it-IT" i="1" dirty="0" smtClean="0"/>
              <a:t>x</a:t>
            </a:r>
            <a:r>
              <a:rPr lang="it-IT" dirty="0" smtClean="0"/>
              <a:t>) è </a:t>
            </a:r>
            <a:r>
              <a:rPr lang="it-IT" i="1" dirty="0" smtClean="0"/>
              <a:t>definita positiva </a:t>
            </a:r>
            <a:r>
              <a:rPr lang="it-IT" dirty="0" smtClean="0"/>
              <a:t>oppure </a:t>
            </a:r>
            <a:r>
              <a:rPr lang="it-IT" i="1" dirty="0" smtClean="0"/>
              <a:t>definita negativa </a:t>
            </a:r>
            <a:r>
              <a:rPr lang="it-IT" dirty="0" smtClean="0"/>
              <a:t>(e allora, eventualmente raccogliendo un segno -, si può supporre definita positiva), cioè:</a:t>
            </a:r>
            <a:endParaRPr lang="it-IT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51720" y="3212976"/>
            <a:ext cx="4838700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CasellaDiTesto 11"/>
          <p:cNvSpPr txBox="1"/>
          <p:nvPr/>
        </p:nvSpPr>
        <p:spPr>
          <a:xfrm>
            <a:off x="467544" y="4077072"/>
            <a:ext cx="8208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si dice </a:t>
            </a:r>
            <a:r>
              <a:rPr lang="it-IT" i="1" dirty="0" smtClean="0"/>
              <a:t>ellittico in un dominio </a:t>
            </a:r>
            <a:r>
              <a:rPr lang="it-IT" dirty="0" smtClean="0"/>
              <a:t>Ω se lo è in ogni punto di Ω; si dice </a:t>
            </a:r>
            <a:r>
              <a:rPr lang="it-IT" i="1" dirty="0" smtClean="0"/>
              <a:t>uniformemente ellittico </a:t>
            </a:r>
            <a:r>
              <a:rPr lang="it-IT" dirty="0" smtClean="0"/>
              <a:t>in Ω se la matrice </a:t>
            </a:r>
            <a:r>
              <a:rPr lang="it-IT" i="1" dirty="0" err="1" smtClean="0"/>
              <a:t>a</a:t>
            </a:r>
            <a:r>
              <a:rPr lang="it-IT" baseline="-25000" dirty="0" err="1" smtClean="0"/>
              <a:t>ij</a:t>
            </a:r>
            <a:r>
              <a:rPr lang="it-IT" dirty="0" smtClean="0"/>
              <a:t>(</a:t>
            </a:r>
            <a:r>
              <a:rPr lang="it-IT" i="1" dirty="0" smtClean="0"/>
              <a:t>x</a:t>
            </a:r>
            <a:r>
              <a:rPr lang="it-IT" dirty="0" smtClean="0"/>
              <a:t>) è </a:t>
            </a:r>
            <a:r>
              <a:rPr lang="it-IT" i="1" dirty="0" smtClean="0"/>
              <a:t>uniformemente definita positiva </a:t>
            </a:r>
            <a:r>
              <a:rPr lang="it-IT" dirty="0" smtClean="0"/>
              <a:t>in Ω, il che significa che per qualche costante λ&gt;0 risulta:</a:t>
            </a:r>
            <a:endParaRPr lang="it-IT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39752" y="4941168"/>
            <a:ext cx="46577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asellaDiTesto 13"/>
          <p:cNvSpPr txBox="1"/>
          <p:nvPr/>
        </p:nvSpPr>
        <p:spPr>
          <a:xfrm>
            <a:off x="323528" y="5877272"/>
            <a:ext cx="8208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Se </a:t>
            </a:r>
            <a:r>
              <a:rPr lang="it-IT" i="1" dirty="0" smtClean="0"/>
              <a:t>L</a:t>
            </a:r>
            <a:r>
              <a:rPr lang="it-IT" dirty="0" smtClean="0"/>
              <a:t> ha coefficienti costanti, ovviamente se è ellittico in un punto è ellittico ovunque ed è uniformemente ellittico. Il </a:t>
            </a:r>
            <a:r>
              <a:rPr lang="it-IT" dirty="0" err="1" smtClean="0"/>
              <a:t>laplaciano</a:t>
            </a:r>
            <a:r>
              <a:rPr lang="it-IT" dirty="0" smtClean="0"/>
              <a:t> è (uniformemente) ellittico.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/>
          <p:cNvSpPr>
            <a:spLocks noGrp="1"/>
          </p:cNvSpPr>
          <p:nvPr>
            <p:ph type="title"/>
          </p:nvPr>
        </p:nvSpPr>
        <p:spPr>
          <a:xfrm>
            <a:off x="539552" y="116632"/>
            <a:ext cx="8003232" cy="922114"/>
          </a:xfrm>
        </p:spPr>
        <p:txBody>
          <a:bodyPr>
            <a:normAutofit/>
          </a:bodyPr>
          <a:lstStyle/>
          <a:p>
            <a:r>
              <a:rPr lang="it-IT" dirty="0" smtClean="0"/>
              <a:t>Operatori iperbolici in </a:t>
            </a:r>
            <a:r>
              <a:rPr lang="it-IT" i="1" dirty="0" smtClean="0"/>
              <a:t>n</a:t>
            </a:r>
            <a:r>
              <a:rPr lang="it-IT" dirty="0" smtClean="0"/>
              <a:t> variabili</a:t>
            </a:r>
            <a:endParaRPr lang="it-IT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539552" y="980728"/>
            <a:ext cx="799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/>
              <a:t>Definizione.</a:t>
            </a:r>
            <a:r>
              <a:rPr lang="it-IT" dirty="0" smtClean="0"/>
              <a:t> Un operatore </a:t>
            </a:r>
            <a:r>
              <a:rPr lang="it-IT" i="1" dirty="0" smtClean="0"/>
              <a:t>L</a:t>
            </a:r>
            <a:r>
              <a:rPr lang="it-IT" dirty="0" smtClean="0"/>
              <a:t> come sopra (divergenza o non divergenza) si dice </a:t>
            </a:r>
            <a:r>
              <a:rPr lang="it-IT" i="1" dirty="0" smtClean="0"/>
              <a:t>iperbolico in un punto x</a:t>
            </a:r>
            <a:r>
              <a:rPr lang="it-IT" dirty="0" smtClean="0"/>
              <a:t> se la matrice </a:t>
            </a:r>
            <a:r>
              <a:rPr lang="it-IT" i="1" dirty="0" err="1" smtClean="0"/>
              <a:t>a</a:t>
            </a:r>
            <a:r>
              <a:rPr lang="it-IT" baseline="-25000" dirty="0" err="1" smtClean="0"/>
              <a:t>ij</a:t>
            </a:r>
            <a:r>
              <a:rPr lang="it-IT" dirty="0" smtClean="0"/>
              <a:t>(</a:t>
            </a:r>
            <a:r>
              <a:rPr lang="it-IT" i="1" dirty="0" smtClean="0"/>
              <a:t>x</a:t>
            </a:r>
            <a:r>
              <a:rPr lang="it-IT" dirty="0" smtClean="0"/>
              <a:t>) è </a:t>
            </a:r>
            <a:r>
              <a:rPr lang="it-IT" i="1" dirty="0" smtClean="0"/>
              <a:t>indefinita</a:t>
            </a:r>
            <a:r>
              <a:rPr lang="it-IT" dirty="0" smtClean="0"/>
              <a:t>, cioè se la forma quadratica</a:t>
            </a:r>
            <a:endParaRPr lang="it-IT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467544" y="2564904"/>
            <a:ext cx="8208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cambia segno per valori diversi di ξ∈</a:t>
            </a:r>
            <a:r>
              <a:rPr lang="it-IT" dirty="0" err="1" smtClean="0"/>
              <a:t>Rⁿ</a:t>
            </a:r>
            <a:r>
              <a:rPr lang="it-IT" dirty="0" smtClean="0"/>
              <a:t>. Si dice </a:t>
            </a:r>
            <a:r>
              <a:rPr lang="it-IT" i="1" dirty="0" smtClean="0"/>
              <a:t>iperbolico in un dominio </a:t>
            </a:r>
            <a:r>
              <a:rPr lang="it-IT" dirty="0" smtClean="0"/>
              <a:t>Ω se lo è in ogni punto di Ω.</a:t>
            </a:r>
          </a:p>
          <a:p>
            <a:endParaRPr lang="it-IT" dirty="0" smtClean="0"/>
          </a:p>
          <a:p>
            <a:r>
              <a:rPr lang="it-IT" dirty="0" smtClean="0"/>
              <a:t>L’operatore delle onde in </a:t>
            </a:r>
            <a:r>
              <a:rPr lang="it-IT" i="1" dirty="0" smtClean="0"/>
              <a:t>n</a:t>
            </a:r>
            <a:r>
              <a:rPr lang="it-IT" dirty="0" smtClean="0"/>
              <a:t> variabili spaziali è iperbolico in </a:t>
            </a:r>
            <a:r>
              <a:rPr lang="it-IT" dirty="0" err="1" smtClean="0"/>
              <a:t>Rⁿ</a:t>
            </a:r>
            <a:r>
              <a:rPr lang="it-IT" dirty="0" smtClean="0"/>
              <a:t>⁺¹, perché scrivendo</a:t>
            </a:r>
            <a:endParaRPr lang="it-IT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9872" y="1628800"/>
            <a:ext cx="1921768" cy="89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99792" y="3789040"/>
            <a:ext cx="38862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8" name="Gruppo 17"/>
          <p:cNvGrpSpPr/>
          <p:nvPr/>
        </p:nvGrpSpPr>
        <p:grpSpPr>
          <a:xfrm>
            <a:off x="395536" y="5013176"/>
            <a:ext cx="6795889" cy="1521460"/>
            <a:chOff x="323528" y="4797152"/>
            <a:chExt cx="6795889" cy="1521460"/>
          </a:xfrm>
        </p:grpSpPr>
        <p:sp>
          <p:nvSpPr>
            <p:cNvPr id="15" name="CasellaDiTesto 14"/>
            <p:cNvSpPr txBox="1"/>
            <p:nvPr/>
          </p:nvSpPr>
          <p:spPr>
            <a:xfrm>
              <a:off x="323528" y="4797152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 smtClean="0"/>
                <a:t>si ha</a:t>
              </a:r>
              <a:endParaRPr lang="it-IT" dirty="0"/>
            </a:p>
          </p:txBody>
        </p:sp>
        <p:pic>
          <p:nvPicPr>
            <p:cNvPr id="6148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75656" y="4869160"/>
              <a:ext cx="5643761" cy="9334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CasellaDiTesto 16"/>
            <p:cNvSpPr txBox="1"/>
            <p:nvPr/>
          </p:nvSpPr>
          <p:spPr>
            <a:xfrm>
              <a:off x="323528" y="5949280"/>
              <a:ext cx="32011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 smtClean="0"/>
                <a:t>che cambia segno al variare di ξ.</a:t>
              </a:r>
              <a:endParaRPr lang="it-IT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5"/>
          <p:cNvSpPr>
            <a:spLocks noGrp="1"/>
          </p:cNvSpPr>
          <p:nvPr>
            <p:ph type="title"/>
          </p:nvPr>
        </p:nvSpPr>
        <p:spPr>
          <a:xfrm>
            <a:off x="467544" y="0"/>
            <a:ext cx="8219256" cy="994122"/>
          </a:xfrm>
        </p:spPr>
        <p:txBody>
          <a:bodyPr>
            <a:normAutofit/>
          </a:bodyPr>
          <a:lstStyle/>
          <a:p>
            <a:r>
              <a:rPr lang="it-IT" dirty="0" smtClean="0"/>
              <a:t>Operatori parabolici in </a:t>
            </a:r>
            <a:r>
              <a:rPr lang="it-IT" i="1" dirty="0" smtClean="0"/>
              <a:t>n</a:t>
            </a:r>
            <a:r>
              <a:rPr lang="it-IT" dirty="0" smtClean="0"/>
              <a:t> variabili</a:t>
            </a:r>
            <a:endParaRPr lang="it-IT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539552" y="1340768"/>
            <a:ext cx="81369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La definizione di </a:t>
            </a:r>
            <a:r>
              <a:rPr lang="it-IT" i="1" dirty="0" smtClean="0"/>
              <a:t>operatore parabolico </a:t>
            </a:r>
            <a:r>
              <a:rPr lang="it-IT" dirty="0" smtClean="0"/>
              <a:t>in dimensione qualsiasi è più delicata. </a:t>
            </a:r>
          </a:p>
          <a:p>
            <a:r>
              <a:rPr lang="it-IT" dirty="0" smtClean="0"/>
              <a:t>Si potrebbe pensare, per esclusione, che gli operatori parabolici siano quelli la cui parte principale è </a:t>
            </a:r>
            <a:r>
              <a:rPr lang="it-IT" i="1" dirty="0" err="1" smtClean="0"/>
              <a:t>semidefinita</a:t>
            </a:r>
            <a:r>
              <a:rPr lang="it-IT" dirty="0" smtClean="0"/>
              <a:t>; </a:t>
            </a:r>
          </a:p>
          <a:p>
            <a:r>
              <a:rPr lang="it-IT" dirty="0" smtClean="0"/>
              <a:t>di solito si richiede una condizione più forte, cioè che la parte principale sia </a:t>
            </a:r>
            <a:r>
              <a:rPr lang="it-IT" dirty="0" err="1" smtClean="0"/>
              <a:t>semidefinita</a:t>
            </a:r>
            <a:r>
              <a:rPr lang="it-IT" dirty="0" smtClean="0"/>
              <a:t> ma abbia anche una struttura speciale. </a:t>
            </a:r>
          </a:p>
          <a:p>
            <a:r>
              <a:rPr lang="it-IT" dirty="0" smtClean="0"/>
              <a:t>Una definizione standard di operatore parabolico è la seguente (come si vede, in essa una variabile “tempo” gioca un ruolo distinto dalle altre):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908720"/>
            <a:ext cx="8678182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asellaDiTesto 6"/>
          <p:cNvSpPr txBox="1"/>
          <p:nvPr/>
        </p:nvSpPr>
        <p:spPr>
          <a:xfrm>
            <a:off x="395536" y="6237312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L'operatore del calore è (uniformemente) parabolico.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1143000"/>
          </a:xfrm>
        </p:spPr>
        <p:txBody>
          <a:bodyPr>
            <a:normAutofit/>
          </a:bodyPr>
          <a:lstStyle/>
          <a:p>
            <a:r>
              <a:rPr lang="it-IT" sz="3600" dirty="0" smtClean="0"/>
              <a:t>Parte principale e termini di ordine inferiore</a:t>
            </a:r>
            <a:endParaRPr lang="it-IT" sz="3600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539552" y="1052736"/>
            <a:ext cx="82809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Ciò che decide che un operatore sia </a:t>
            </a:r>
            <a:r>
              <a:rPr lang="it-IT" i="1" dirty="0" smtClean="0"/>
              <a:t>ellittico </a:t>
            </a:r>
            <a:r>
              <a:rPr lang="it-IT" dirty="0" smtClean="0"/>
              <a:t>o </a:t>
            </a:r>
            <a:r>
              <a:rPr lang="it-IT" i="1" dirty="0" smtClean="0"/>
              <a:t>iperbolico </a:t>
            </a:r>
            <a:r>
              <a:rPr lang="it-IT" dirty="0" smtClean="0"/>
              <a:t>è </a:t>
            </a:r>
            <a:r>
              <a:rPr lang="it-IT" i="1" dirty="0" smtClean="0"/>
              <a:t>solo la sua parte principale</a:t>
            </a:r>
            <a:r>
              <a:rPr lang="it-IT" dirty="0" smtClean="0"/>
              <a:t> (quella che contiene le derivate seconde); i termini di ordine inferiore (cioè nelle derivate prime o nella u) sono ininfluenti da questo punto di vista. </a:t>
            </a:r>
          </a:p>
          <a:p>
            <a:r>
              <a:rPr lang="it-IT" dirty="0" smtClean="0"/>
              <a:t>Ad esempio: se al </a:t>
            </a:r>
            <a:r>
              <a:rPr lang="it-IT" dirty="0" err="1" smtClean="0"/>
              <a:t>laplaciano</a:t>
            </a:r>
            <a:r>
              <a:rPr lang="it-IT" dirty="0" smtClean="0"/>
              <a:t> sommiamo dei termini qualsiasi contenenti le derivate prime di u, l’operatore rimane uniformemente ellittico.    </a:t>
            </a:r>
          </a:p>
          <a:p>
            <a:r>
              <a:rPr lang="it-IT" dirty="0" smtClean="0"/>
              <a:t>Per un operatore parabolico la situazione è leggermente diversa.</a:t>
            </a:r>
          </a:p>
          <a:p>
            <a:r>
              <a:rPr lang="it-IT" dirty="0" smtClean="0"/>
              <a:t>Ciò che conta è:</a:t>
            </a:r>
            <a:endParaRPr lang="it-IT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2780928"/>
            <a:ext cx="4360168" cy="2010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sellaDiTesto 5"/>
          <p:cNvSpPr txBox="1"/>
          <p:nvPr/>
        </p:nvSpPr>
        <p:spPr>
          <a:xfrm>
            <a:off x="467544" y="4725144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In altre parole, la parte principale dell'operatore parabolico è:</a:t>
            </a:r>
            <a:endParaRPr lang="it-IT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664" y="5157192"/>
            <a:ext cx="6696745" cy="438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sellaDiTesto 7"/>
          <p:cNvSpPr txBox="1"/>
          <p:nvPr/>
        </p:nvSpPr>
        <p:spPr>
          <a:xfrm>
            <a:off x="323528" y="5657671"/>
            <a:ext cx="8496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I termini di ordine inferiore sono in questo caso quelli nelle derivate prime rispetto alle sole </a:t>
            </a:r>
            <a:r>
              <a:rPr lang="it-IT" i="1" dirty="0" smtClean="0"/>
              <a:t>x</a:t>
            </a:r>
            <a:r>
              <a:rPr lang="it-IT" baseline="-25000" dirty="0" smtClean="0"/>
              <a:t>i</a:t>
            </a:r>
            <a:r>
              <a:rPr lang="it-IT" dirty="0" smtClean="0"/>
              <a:t> e nella </a:t>
            </a:r>
            <a:r>
              <a:rPr lang="it-IT" i="1" dirty="0" smtClean="0"/>
              <a:t>u</a:t>
            </a:r>
            <a:r>
              <a:rPr lang="it-IT" dirty="0" smtClean="0"/>
              <a:t>, mentre </a:t>
            </a:r>
            <a:r>
              <a:rPr lang="it-IT" i="1" dirty="0" err="1" smtClean="0"/>
              <a:t>u</a:t>
            </a:r>
            <a:r>
              <a:rPr lang="it-IT" baseline="-25000" dirty="0" err="1" smtClean="0"/>
              <a:t>t</a:t>
            </a:r>
            <a:r>
              <a:rPr lang="it-IT" dirty="0" smtClean="0"/>
              <a:t> è nella parte principale anche se è una derivata prima. </a:t>
            </a:r>
          </a:p>
          <a:p>
            <a:r>
              <a:rPr lang="it-IT" dirty="0" smtClean="0"/>
              <a:t>In un’equazione parabolica la derivata rispetto al tempo “pesa” come una derivata </a:t>
            </a:r>
            <a:r>
              <a:rPr lang="it-IT" i="1" dirty="0" smtClean="0"/>
              <a:t>seconda </a:t>
            </a:r>
            <a:r>
              <a:rPr lang="it-IT" dirty="0" smtClean="0"/>
              <a:t>rispetto alle variabili spaziali.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  <p:bldP spid="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Qualche proprietà degli operatori ellittici, parabolici, iperbolici</a:t>
            </a: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323528" y="1772816"/>
            <a:ext cx="84249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L’equazione di Laplace, del Calore, delle Onde, sono i prototipi di equazioni ellittica, parabolica, iperbolica. </a:t>
            </a:r>
          </a:p>
          <a:p>
            <a:r>
              <a:rPr lang="it-IT" dirty="0" smtClean="0"/>
              <a:t>A equazioni dei vari tipi corrispondono, in generale, proprietà simili a quelle delle equazioni prototipo, ad esempio dai seguenti punti di vista:</a:t>
            </a:r>
          </a:p>
          <a:p>
            <a:r>
              <a:rPr lang="it-IT" i="1" dirty="0" smtClean="0"/>
              <a:t>a.</a:t>
            </a:r>
            <a:r>
              <a:rPr lang="it-IT" dirty="0" smtClean="0"/>
              <a:t> quali sono i problemi al contorno e/o ai valori iniziali che è naturale studiare e per i quali ci si può aspettare che il problema sia ben posto;</a:t>
            </a:r>
          </a:p>
          <a:p>
            <a:r>
              <a:rPr lang="it-IT" i="1" dirty="0" smtClean="0"/>
              <a:t>b.</a:t>
            </a:r>
            <a:r>
              <a:rPr lang="it-IT" dirty="0" smtClean="0"/>
              <a:t> quali sono le proprietà di regolarizzazione che l’operatore ha o non ha;</a:t>
            </a:r>
          </a:p>
          <a:p>
            <a:r>
              <a:rPr lang="it-IT" i="1" dirty="0" smtClean="0"/>
              <a:t>c.</a:t>
            </a:r>
            <a:r>
              <a:rPr lang="it-IT" dirty="0" smtClean="0"/>
              <a:t> quali tecniche dimostrative si possono utilizzare per dimostrare risultati di esistenza, unicità o dipendenza continua.</a:t>
            </a:r>
          </a:p>
          <a:p>
            <a:r>
              <a:rPr lang="it-IT" dirty="0" smtClean="0"/>
              <a:t>Quello che certamente </a:t>
            </a:r>
            <a:r>
              <a:rPr lang="it-IT" i="1" dirty="0" smtClean="0"/>
              <a:t>non potremo aspettarci </a:t>
            </a:r>
            <a:r>
              <a:rPr lang="it-IT" dirty="0" smtClean="0"/>
              <a:t>da un operatore (ellittico, parabolico o iperbolico) a coefficienti variabili è di essere capaci di calcolare esplicitamente la soluzione, come accade, in situazioni geometriche semplici, per gli operatori di Laplace, Calore, Onde.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Operatori ellittici, parabolici, iperbolici:</a:t>
            </a:r>
            <a:br>
              <a:rPr lang="it-IT" dirty="0" smtClean="0"/>
            </a:br>
            <a:r>
              <a:rPr lang="it-IT" i="1" dirty="0" smtClean="0"/>
              <a:t>a</a:t>
            </a:r>
            <a:r>
              <a:rPr lang="it-IT" dirty="0" smtClean="0"/>
              <a:t>. problemi naturali</a:t>
            </a: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323528" y="1772816"/>
            <a:ext cx="8424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 smtClean="0"/>
              <a:t>Premessa.</a:t>
            </a:r>
            <a:r>
              <a:rPr lang="it-IT" dirty="0" smtClean="0"/>
              <a:t> Cosa vuol dire “problema di Cauchy” per una generica EDP del 2° ordine (che magari non contiene una variabile “tempo”)?</a:t>
            </a:r>
            <a:endParaRPr lang="it-IT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564904"/>
            <a:ext cx="3528392" cy="2187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sellaDiTesto 4"/>
          <p:cNvSpPr txBox="1"/>
          <p:nvPr/>
        </p:nvSpPr>
        <p:spPr>
          <a:xfrm>
            <a:off x="4211960" y="2564904"/>
            <a:ext cx="46805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Significa assegnare, lungo un’(</a:t>
            </a:r>
            <a:r>
              <a:rPr lang="it-IT" dirty="0" err="1" smtClean="0"/>
              <a:t>iper</a:t>
            </a:r>
            <a:r>
              <a:rPr lang="it-IT" dirty="0" smtClean="0"/>
              <a:t>)superficie </a:t>
            </a:r>
            <a:r>
              <a:rPr lang="el-GR" dirty="0" smtClean="0"/>
              <a:t>Σ </a:t>
            </a:r>
            <a:r>
              <a:rPr lang="it-IT" dirty="0" smtClean="0"/>
              <a:t>di </a:t>
            </a:r>
            <a:r>
              <a:rPr lang="it-IT" dirty="0" err="1" smtClean="0"/>
              <a:t>R</a:t>
            </a:r>
            <a:r>
              <a:rPr lang="it-IT" baseline="30000" dirty="0" err="1" smtClean="0"/>
              <a:t>n</a:t>
            </a:r>
            <a:r>
              <a:rPr lang="it-IT" dirty="0" smtClean="0"/>
              <a:t> (ad es. t=0) il valore di </a:t>
            </a:r>
            <a:r>
              <a:rPr lang="it-IT" i="1" dirty="0" smtClean="0"/>
              <a:t>u</a:t>
            </a:r>
            <a:r>
              <a:rPr lang="it-IT" dirty="0" smtClean="0"/>
              <a:t> e della sua </a:t>
            </a:r>
            <a:r>
              <a:rPr lang="it-IT" i="1" dirty="0" smtClean="0"/>
              <a:t>derivata normale </a:t>
            </a:r>
            <a:r>
              <a:rPr lang="it-IT" dirty="0" smtClean="0"/>
              <a:t>a </a:t>
            </a:r>
            <a:r>
              <a:rPr lang="el-GR" dirty="0" smtClean="0"/>
              <a:t>Σ</a:t>
            </a:r>
            <a:r>
              <a:rPr lang="it-IT" dirty="0" smtClean="0"/>
              <a:t>.</a:t>
            </a:r>
          </a:p>
          <a:p>
            <a:r>
              <a:rPr lang="it-IT" dirty="0" smtClean="0"/>
              <a:t>Perché “derivata normale”? Se conosco </a:t>
            </a:r>
            <a:r>
              <a:rPr lang="it-IT" i="1" dirty="0" smtClean="0"/>
              <a:t>u</a:t>
            </a:r>
            <a:r>
              <a:rPr lang="it-IT" dirty="0" smtClean="0"/>
              <a:t> su </a:t>
            </a:r>
            <a:r>
              <a:rPr lang="el-GR" dirty="0" smtClean="0"/>
              <a:t>Σ</a:t>
            </a:r>
            <a:r>
              <a:rPr lang="it-IT" dirty="0" smtClean="0"/>
              <a:t> posso calcolare le </a:t>
            </a:r>
            <a:r>
              <a:rPr lang="it-IT" i="1" dirty="0" smtClean="0"/>
              <a:t>derivate tangenziali </a:t>
            </a:r>
            <a:r>
              <a:rPr lang="it-IT" dirty="0" smtClean="0"/>
              <a:t>a </a:t>
            </a:r>
            <a:r>
              <a:rPr lang="el-GR" dirty="0" smtClean="0"/>
              <a:t>Σ</a:t>
            </a:r>
            <a:r>
              <a:rPr lang="it-IT" dirty="0" smtClean="0"/>
              <a:t>: la </a:t>
            </a:r>
            <a:r>
              <a:rPr lang="it-IT" i="1" dirty="0" smtClean="0"/>
              <a:t>derivata normale </a:t>
            </a:r>
            <a:r>
              <a:rPr lang="it-IT" dirty="0" smtClean="0"/>
              <a:t>è un’informazione indipendente da questa, e conoscendo sia la normale sia le tangenziali si può calcolare qualsiasi derivata direzionale.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251520" y="5157192"/>
            <a:ext cx="8568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Il caso particolare che abbiamo visto finora corrisponde all’</a:t>
            </a:r>
            <a:r>
              <a:rPr lang="it-IT" dirty="0" err="1" smtClean="0"/>
              <a:t>ipersuperficie</a:t>
            </a:r>
            <a:r>
              <a:rPr lang="it-IT" dirty="0" smtClean="0"/>
              <a:t> t=0, per cui derivata normale significa ∂</a:t>
            </a:r>
            <a:r>
              <a:rPr lang="it-IT" baseline="-25000" dirty="0" smtClean="0"/>
              <a:t>t</a:t>
            </a:r>
            <a:r>
              <a:rPr lang="it-IT" dirty="0" smtClean="0"/>
              <a:t>.</a:t>
            </a:r>
          </a:p>
          <a:p>
            <a:r>
              <a:rPr lang="it-IT" dirty="0" smtClean="0"/>
              <a:t>Per sua natura, la soluzione di un problema di Cauchy si cerca, a priori, definita (almeno) in un intorno dell'</a:t>
            </a:r>
            <a:r>
              <a:rPr lang="it-IT" dirty="0" err="1" smtClean="0"/>
              <a:t>ipersuperficie</a:t>
            </a:r>
            <a:r>
              <a:rPr lang="it-IT" dirty="0" smtClean="0"/>
              <a:t> in cui si assegna il dato.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  <p:bldP spid="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Operatori ellittici:</a:t>
            </a:r>
            <a:br>
              <a:rPr lang="it-IT" dirty="0" smtClean="0"/>
            </a:br>
            <a:r>
              <a:rPr lang="it-IT" i="1" dirty="0" smtClean="0"/>
              <a:t>a</a:t>
            </a:r>
            <a:r>
              <a:rPr lang="it-IT" dirty="0" smtClean="0"/>
              <a:t>. problemi naturali</a:t>
            </a: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539552" y="1700808"/>
            <a:ext cx="81369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Fatta questa premessa, veniamo ai confronti tra i tipi di operatori.</a:t>
            </a:r>
          </a:p>
          <a:p>
            <a:r>
              <a:rPr lang="it-IT" dirty="0" smtClean="0"/>
              <a:t>A prescindere dalle ipotesi di regolarità sui coefficienti e sul dominio, che andranno precisate, si può dire che </a:t>
            </a:r>
            <a:r>
              <a:rPr lang="it-IT" b="1" i="1" dirty="0" smtClean="0"/>
              <a:t>per gli operatori ellittici si studiano problemi al contorno </a:t>
            </a:r>
            <a:r>
              <a:rPr lang="it-IT" dirty="0" smtClean="0"/>
              <a:t>(di </a:t>
            </a:r>
            <a:r>
              <a:rPr lang="it-IT" dirty="0" err="1" smtClean="0"/>
              <a:t>Dirichlet</a:t>
            </a:r>
            <a:r>
              <a:rPr lang="it-IT" dirty="0" smtClean="0"/>
              <a:t>, </a:t>
            </a:r>
            <a:r>
              <a:rPr lang="it-IT" dirty="0" err="1" smtClean="0"/>
              <a:t>Neumann</a:t>
            </a:r>
            <a:r>
              <a:rPr lang="it-IT" dirty="0" smtClean="0"/>
              <a:t>...), mentre </a:t>
            </a:r>
            <a:r>
              <a:rPr lang="it-IT" b="1" i="1" dirty="0" smtClean="0"/>
              <a:t>non si studia il problema di Cauchy</a:t>
            </a:r>
            <a:r>
              <a:rPr lang="it-IT" dirty="0" smtClean="0"/>
              <a:t>. </a:t>
            </a:r>
          </a:p>
          <a:p>
            <a:r>
              <a:rPr lang="it-IT" dirty="0" smtClean="0"/>
              <a:t>“Non si studia” significa che non è naturale farlo per i significati fisici che l’equazione ha, e che dal punto di vista matematico non è un problema ben posto per quest’equazione.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Operatori iperbolici:</a:t>
            </a:r>
            <a:br>
              <a:rPr lang="it-IT" dirty="0" smtClean="0"/>
            </a:br>
            <a:r>
              <a:rPr lang="it-IT" i="1" dirty="0" smtClean="0"/>
              <a:t>a</a:t>
            </a:r>
            <a:r>
              <a:rPr lang="it-IT" dirty="0" smtClean="0"/>
              <a:t>. problemi naturali</a:t>
            </a: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611560" y="1700808"/>
            <a:ext cx="79208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 smtClean="0"/>
              <a:t>Per un operatore iperbolico</a:t>
            </a:r>
            <a:r>
              <a:rPr lang="it-IT" dirty="0" smtClean="0"/>
              <a:t>, invece, tipicamente </a:t>
            </a:r>
            <a:r>
              <a:rPr lang="it-IT" b="1" i="1" dirty="0" smtClean="0"/>
              <a:t>si studia </a:t>
            </a:r>
            <a:r>
              <a:rPr lang="it-IT" i="1" dirty="0" smtClean="0"/>
              <a:t>proprio</a:t>
            </a:r>
            <a:r>
              <a:rPr lang="it-IT" b="1" i="1" dirty="0" smtClean="0"/>
              <a:t> un problema di Cauchy</a:t>
            </a:r>
            <a:r>
              <a:rPr lang="it-IT" dirty="0" smtClean="0"/>
              <a:t> (+ eventuali condizioni al contorno se il dominio spaziale è limitato), con condizioni iniziali assegnate su una (</a:t>
            </a:r>
            <a:r>
              <a:rPr lang="it-IT" dirty="0" err="1" smtClean="0"/>
              <a:t>iper</a:t>
            </a:r>
            <a:r>
              <a:rPr lang="it-IT" dirty="0" smtClean="0"/>
              <a:t>)superficie (che generalizza il caso t=0 dell'equazione delle onde). </a:t>
            </a:r>
          </a:p>
          <a:p>
            <a:r>
              <a:rPr lang="it-IT" dirty="0" smtClean="0"/>
              <a:t>L’</a:t>
            </a:r>
            <a:r>
              <a:rPr lang="it-IT" dirty="0" err="1" smtClean="0"/>
              <a:t>ipersuperficie</a:t>
            </a:r>
            <a:r>
              <a:rPr lang="it-IT" dirty="0" smtClean="0"/>
              <a:t> Σ su cui si assegnano i dati di Cauchy deve soddisfare una certa condizione, però (dipendente dallo specifico operatore): </a:t>
            </a:r>
          </a:p>
          <a:p>
            <a:r>
              <a:rPr lang="it-IT" dirty="0" smtClean="0"/>
              <a:t>Σ </a:t>
            </a:r>
            <a:r>
              <a:rPr lang="it-IT" b="1" i="1" dirty="0" err="1" smtClean="0"/>
              <a:t>dev</a:t>
            </a:r>
            <a:r>
              <a:rPr lang="it-IT" b="1" i="1" dirty="0" smtClean="0"/>
              <a:t>’essere una superficie non caratteristica.</a:t>
            </a:r>
            <a:endParaRPr lang="it-IT" dirty="0" smtClean="0"/>
          </a:p>
          <a:p>
            <a:r>
              <a:rPr lang="it-IT" dirty="0" smtClean="0"/>
              <a:t>Senza dare la definizione generale di superficie caratteristica, spieghiamola su un esempio particolare: l’equazione della corda vibrante.</a:t>
            </a:r>
          </a:p>
          <a:p>
            <a:r>
              <a:rPr lang="it-IT" dirty="0" smtClean="0"/>
              <a:t>L’equazione della corda vibrante u</a:t>
            </a:r>
            <a:r>
              <a:rPr lang="it-IT" baseline="-25000" dirty="0" smtClean="0"/>
              <a:t>tt</a:t>
            </a:r>
            <a:r>
              <a:rPr lang="it-IT" dirty="0" smtClean="0"/>
              <a:t>-c²u</a:t>
            </a:r>
            <a:r>
              <a:rPr lang="it-IT" baseline="-25000" dirty="0" smtClean="0"/>
              <a:t>xx</a:t>
            </a:r>
            <a:r>
              <a:rPr lang="it-IT" dirty="0" smtClean="0"/>
              <a:t>=0 ha due famiglie di rette caratteristiche, x±ct=cost. </a:t>
            </a:r>
          </a:p>
          <a:p>
            <a:r>
              <a:rPr lang="it-IT" dirty="0" smtClean="0"/>
              <a:t>Invece di assegnare le condizioni di Cauchy sulla retta t=0, potremmo assegnarle su (quasi) qualsiasi altra retta </a:t>
            </a:r>
            <a:r>
              <a:rPr lang="it-IT" i="1" dirty="0" smtClean="0"/>
              <a:t>ax+bt+c</a:t>
            </a:r>
            <a:r>
              <a:rPr lang="it-IT" dirty="0" smtClean="0"/>
              <a:t>=0, </a:t>
            </a:r>
            <a:r>
              <a:rPr lang="it-IT" i="1" dirty="0" smtClean="0"/>
              <a:t>purché non sia proprio una retta caratteristica</a:t>
            </a:r>
            <a:r>
              <a:rPr lang="it-IT" dirty="0" smtClean="0"/>
              <a:t>. </a:t>
            </a:r>
          </a:p>
          <a:p>
            <a:r>
              <a:rPr lang="it-IT" dirty="0" smtClean="0"/>
              <a:t>Infatti lungo quelle rette si propaga l’informazione, perciò i valori di </a:t>
            </a:r>
            <a:r>
              <a:rPr lang="it-IT" i="1" dirty="0" smtClean="0"/>
              <a:t>u </a:t>
            </a:r>
            <a:r>
              <a:rPr lang="it-IT" dirty="0" smtClean="0"/>
              <a:t>e della derivata normale di </a:t>
            </a:r>
            <a:r>
              <a:rPr lang="it-IT" i="1" dirty="0" smtClean="0"/>
              <a:t>u</a:t>
            </a:r>
            <a:r>
              <a:rPr lang="it-IT" dirty="0" smtClean="0"/>
              <a:t> su quelle rette non sono tra loro indipendenti, non possiamo assegnarle arbitrariamente.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frontiera_parabolic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20072" y="3356992"/>
            <a:ext cx="3286125" cy="3352800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Operatori parabolici:</a:t>
            </a:r>
            <a:br>
              <a:rPr lang="it-IT" dirty="0" smtClean="0"/>
            </a:br>
            <a:r>
              <a:rPr lang="it-IT" i="1" dirty="0" smtClean="0"/>
              <a:t>a</a:t>
            </a:r>
            <a:r>
              <a:rPr lang="it-IT" dirty="0" smtClean="0"/>
              <a:t>. problemi naturali</a:t>
            </a: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179512" y="1556792"/>
            <a:ext cx="87849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 smtClean="0"/>
              <a:t>Per operatori parabolici si studia il problema di Cauchy </a:t>
            </a:r>
            <a:r>
              <a:rPr lang="it-IT" dirty="0" smtClean="0"/>
              <a:t>globale o di Cauchy + condizioni al contorno nel caso di domini spaziali limitati, nello stesso senso visto per l’equazione del calore: </a:t>
            </a:r>
          </a:p>
          <a:p>
            <a:r>
              <a:rPr lang="it-IT" dirty="0" smtClean="0"/>
              <a:t>vedendo l’operatore parabolico definito su un dominio </a:t>
            </a:r>
            <a:r>
              <a:rPr lang="it-IT" i="1" dirty="0" smtClean="0"/>
              <a:t>Q </a:t>
            </a:r>
            <a:r>
              <a:rPr lang="it-IT" dirty="0" smtClean="0"/>
              <a:t>dello spazio-tempo, si può dire che il dato al contorno è assegnato sulla </a:t>
            </a:r>
            <a:r>
              <a:rPr lang="it-IT" i="1" dirty="0" smtClean="0"/>
              <a:t>frontiera parabolica</a:t>
            </a:r>
            <a:r>
              <a:rPr lang="it-IT" dirty="0" smtClean="0"/>
              <a:t>. </a:t>
            </a:r>
          </a:p>
        </p:txBody>
      </p:sp>
      <p:sp>
        <p:nvSpPr>
          <p:cNvPr id="5" name="CasellaDiTesto 4"/>
          <p:cNvSpPr txBox="1"/>
          <p:nvPr/>
        </p:nvSpPr>
        <p:spPr>
          <a:xfrm>
            <a:off x="251520" y="3212976"/>
            <a:ext cx="41044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Ci sono diverse precisazioni da fare. Anzitutto, “problema di Cauchy”, per una EDP del 2° ordine, dovrebbe significare assegnare, per t=0, il valore di </a:t>
            </a:r>
            <a:r>
              <a:rPr lang="it-IT" i="1" dirty="0" smtClean="0"/>
              <a:t>u</a:t>
            </a:r>
            <a:r>
              <a:rPr lang="it-IT" dirty="0" smtClean="0"/>
              <a:t> e di ∂</a:t>
            </a:r>
            <a:r>
              <a:rPr lang="it-IT" i="1" dirty="0" smtClean="0"/>
              <a:t>u</a:t>
            </a:r>
            <a:r>
              <a:rPr lang="it-IT" dirty="0" smtClean="0"/>
              <a:t>/∂</a:t>
            </a:r>
            <a:r>
              <a:rPr lang="it-IT" i="1" dirty="0" smtClean="0"/>
              <a:t>t</a:t>
            </a:r>
            <a:r>
              <a:rPr lang="it-IT" dirty="0" smtClean="0"/>
              <a:t>. </a:t>
            </a:r>
          </a:p>
          <a:p>
            <a:r>
              <a:rPr lang="it-IT" dirty="0" smtClean="0"/>
              <a:t>Invece, come per l’equazione del calore, per le equazioni paraboliche si assegna solo </a:t>
            </a:r>
            <a:r>
              <a:rPr lang="it-IT" i="1" dirty="0" smtClean="0"/>
              <a:t>u</a:t>
            </a:r>
            <a:r>
              <a:rPr lang="it-IT" dirty="0" smtClean="0"/>
              <a:t> su ∂</a:t>
            </a:r>
            <a:r>
              <a:rPr lang="it-IT" i="1" baseline="-25000" dirty="0" err="1" smtClean="0"/>
              <a:t>p</a:t>
            </a:r>
            <a:r>
              <a:rPr lang="it-IT" i="1" dirty="0" err="1" smtClean="0"/>
              <a:t>Q</a:t>
            </a:r>
            <a:r>
              <a:rPr lang="it-IT" dirty="0" smtClean="0"/>
              <a:t>. </a:t>
            </a:r>
          </a:p>
          <a:p>
            <a:r>
              <a:rPr lang="it-IT" dirty="0" smtClean="0"/>
              <a:t>Questa “anomalia” dipende da un’altra anomalia: un operatore parabolico ha una sola famiglia di superfici caratteristiche, che sono proprio le </a:t>
            </a:r>
            <a:r>
              <a:rPr lang="it-IT" i="1" dirty="0" err="1" smtClean="0"/>
              <a:t>t</a:t>
            </a:r>
            <a:r>
              <a:rPr lang="it-IT" dirty="0" err="1" smtClean="0"/>
              <a:t>=cost</a:t>
            </a:r>
            <a:r>
              <a:rPr lang="it-IT" dirty="0" smtClean="0"/>
              <a:t>. 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4283968" y="3164681"/>
            <a:ext cx="4608512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dirty="0" smtClean="0"/>
              <a:t>Quindi si sta assegnando la condizione di Cauchy proprio su una superficie caratteristica, ciò che per le equazioni iperboliche è proibito fare. </a:t>
            </a:r>
          </a:p>
          <a:p>
            <a:r>
              <a:rPr lang="it-IT" dirty="0" smtClean="0"/>
              <a:t>E infatti non è possibile assegnare sia </a:t>
            </a:r>
            <a:r>
              <a:rPr lang="it-IT" i="1" dirty="0" smtClean="0"/>
              <a:t>u</a:t>
            </a:r>
            <a:r>
              <a:rPr lang="it-IT" dirty="0" smtClean="0"/>
              <a:t> che la derivata prima, ma solo la </a:t>
            </a:r>
            <a:r>
              <a:rPr lang="it-IT" i="1" dirty="0" smtClean="0"/>
              <a:t>u</a:t>
            </a:r>
            <a:r>
              <a:rPr lang="it-IT" dirty="0" smtClean="0"/>
              <a:t>. </a:t>
            </a:r>
          </a:p>
          <a:p>
            <a:r>
              <a:rPr lang="it-IT" dirty="0" smtClean="0"/>
              <a:t>Rispetto alle equazioni iperboliche, quindi, per le paraboliche si assegnano condizioni di Cauchy “ridotte” (solo sulla </a:t>
            </a:r>
            <a:r>
              <a:rPr lang="it-IT" i="1" dirty="0" smtClean="0"/>
              <a:t>u</a:t>
            </a:r>
            <a:r>
              <a:rPr lang="it-IT" dirty="0" smtClean="0"/>
              <a:t> e non su ∂</a:t>
            </a:r>
            <a:r>
              <a:rPr lang="it-IT" i="1" dirty="0" smtClean="0"/>
              <a:t>u</a:t>
            </a:r>
            <a:r>
              <a:rPr lang="it-IT" dirty="0" smtClean="0"/>
              <a:t>/∂</a:t>
            </a:r>
            <a:r>
              <a:rPr lang="it-IT" i="1" dirty="0" smtClean="0"/>
              <a:t>t</a:t>
            </a:r>
            <a:r>
              <a:rPr lang="it-IT" dirty="0" smtClean="0"/>
              <a:t>); </a:t>
            </a:r>
          </a:p>
          <a:p>
            <a:r>
              <a:rPr lang="it-IT" dirty="0" smtClean="0"/>
              <a:t>rispetto alle equazioni ellittiche, per le paraboliche si assegna la condizione di </a:t>
            </a:r>
            <a:r>
              <a:rPr lang="it-IT" dirty="0" err="1" smtClean="0"/>
              <a:t>Dirichlet</a:t>
            </a:r>
            <a:r>
              <a:rPr lang="it-IT" dirty="0" smtClean="0"/>
              <a:t> su una frontiera “ridotta”, la frontiera parabolica.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  <p:bldP spid="6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Operatori ellittici, parabolici, iperbolici: b. Proprietà di regolarizzazione.</a:t>
            </a: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467544" y="2060848"/>
            <a:ext cx="83529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Gli </a:t>
            </a:r>
            <a:r>
              <a:rPr lang="it-IT" b="1" i="1" dirty="0" smtClean="0"/>
              <a:t>operatori uniformemente ellittici e uniformemente parabolici con coefficienti costanti oppure variabili ma</a:t>
            </a:r>
            <a:r>
              <a:rPr lang="it-IT" dirty="0" smtClean="0"/>
              <a:t> C</a:t>
            </a:r>
            <a:r>
              <a:rPr lang="it-IT" baseline="30000" dirty="0" smtClean="0"/>
              <a:t>∞</a:t>
            </a:r>
            <a:r>
              <a:rPr lang="it-IT" dirty="0" smtClean="0"/>
              <a:t> condividono con l</a:t>
            </a:r>
            <a:r>
              <a:rPr lang="it-IT" i="1" dirty="0" smtClean="0"/>
              <a:t>’</a:t>
            </a:r>
            <a:r>
              <a:rPr lang="it-IT" dirty="0" smtClean="0"/>
              <a:t>operatore di Laplace e del Calore una </a:t>
            </a:r>
            <a:r>
              <a:rPr lang="it-IT" b="1" i="1" dirty="0" smtClean="0"/>
              <a:t>proprietà di regolarizzazione </a:t>
            </a:r>
            <a:r>
              <a:rPr lang="it-IT" dirty="0" smtClean="0"/>
              <a:t>forte: </a:t>
            </a:r>
          </a:p>
          <a:p>
            <a:r>
              <a:rPr lang="it-IT" dirty="0" smtClean="0"/>
              <a:t>All’interno del dominio (in spazio o spazio-tempo, rispettivamente), la soluzione dell’equazione omogenea è infinitamente derivabile. </a:t>
            </a:r>
          </a:p>
          <a:p>
            <a:r>
              <a:rPr lang="it-IT" dirty="0" smtClean="0"/>
              <a:t>Se i coefficienti hanno solo una regolarità limitata, ovviamente, anche la regolarità della soluzione ne risentirà. (Ne </a:t>
            </a:r>
            <a:r>
              <a:rPr lang="it-IT" dirty="0" err="1" smtClean="0"/>
              <a:t>riparleremo…</a:t>
            </a:r>
            <a:r>
              <a:rPr lang="it-IT" dirty="0" smtClean="0"/>
              <a:t>).</a:t>
            </a:r>
          </a:p>
          <a:p>
            <a:r>
              <a:rPr lang="it-IT" dirty="0" smtClean="0"/>
              <a:t>Gli </a:t>
            </a:r>
            <a:r>
              <a:rPr lang="it-IT" b="1" i="1" dirty="0" smtClean="0"/>
              <a:t>operatori iperbolici</a:t>
            </a:r>
            <a:r>
              <a:rPr lang="it-IT" dirty="0" smtClean="0"/>
              <a:t>, invece, </a:t>
            </a:r>
            <a:r>
              <a:rPr lang="it-IT" b="1" i="1" dirty="0" smtClean="0"/>
              <a:t>non sono regolarizzanti</a:t>
            </a:r>
            <a:r>
              <a:rPr lang="it-IT" dirty="0" smtClean="0"/>
              <a:t>.</a:t>
            </a:r>
          </a:p>
          <a:p>
            <a:r>
              <a:rPr lang="it-IT" dirty="0" smtClean="0"/>
              <a:t>(Non approfondiamo il punto </a:t>
            </a:r>
            <a:r>
              <a:rPr lang="it-IT" i="1" dirty="0" smtClean="0"/>
              <a:t>c</a:t>
            </a:r>
            <a:r>
              <a:rPr lang="it-IT" dirty="0" smtClean="0"/>
              <a:t> accennato, riguardante le diverse tecniche dimostrative che si utilizzano per i 3 tipi di operatori).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it-IT" dirty="0" smtClean="0"/>
              <a:t>Operatori degeneri</a:t>
            </a: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395536" y="980728"/>
            <a:ext cx="83529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Abbiamo detto che gli </a:t>
            </a:r>
            <a:r>
              <a:rPr lang="it-IT" i="1" dirty="0" smtClean="0"/>
              <a:t>operatori </a:t>
            </a:r>
            <a:r>
              <a:rPr lang="it-IT" b="1" i="1" dirty="0" smtClean="0"/>
              <a:t>uniformemente </a:t>
            </a:r>
            <a:r>
              <a:rPr lang="it-IT" i="1" dirty="0" smtClean="0"/>
              <a:t>ellittici o parabolici regolarizzano</a:t>
            </a:r>
            <a:r>
              <a:rPr lang="it-IT" dirty="0" smtClean="0"/>
              <a:t>.</a:t>
            </a:r>
          </a:p>
          <a:p>
            <a:r>
              <a:rPr lang="it-IT" dirty="0" smtClean="0"/>
              <a:t>Il termine “uniformemente” offre lo spunto per fare qualche ulteriore precisazione sulla classificazione degli operatori descritta fin qui.    </a:t>
            </a:r>
          </a:p>
          <a:p>
            <a:r>
              <a:rPr lang="it-IT" dirty="0" smtClean="0"/>
              <a:t>Consideriamo un operatore lineare del </a:t>
            </a:r>
            <a:r>
              <a:rPr lang="it-IT" dirty="0" err="1" smtClean="0"/>
              <a:t>second</a:t>
            </a:r>
            <a:r>
              <a:rPr lang="it-IT" dirty="0" smtClean="0"/>
              <a:t>’ordine la cui parte principale sia definita oppure </a:t>
            </a:r>
            <a:r>
              <a:rPr lang="it-IT" dirty="0" err="1" smtClean="0"/>
              <a:t>semidefinita</a:t>
            </a:r>
            <a:r>
              <a:rPr lang="it-IT" dirty="0" smtClean="0"/>
              <a:t> (positiva, per fissare le idee). </a:t>
            </a:r>
          </a:p>
          <a:p>
            <a:r>
              <a:rPr lang="it-IT" dirty="0" smtClean="0"/>
              <a:t>Questi operatori si dicono “operatori con forma caratteristica non negativa”. </a:t>
            </a:r>
          </a:p>
          <a:p>
            <a:r>
              <a:rPr lang="it-IT" dirty="0" smtClean="0"/>
              <a:t>Gli operatori ellittici e parabolici rientrano in questa categoria, ma non solo loro. Vediamo che fenomeni si possono presentare per questi operatori.    </a:t>
            </a:r>
          </a:p>
          <a:p>
            <a:r>
              <a:rPr lang="it-IT" i="1" dirty="0" smtClean="0"/>
              <a:t>a.</a:t>
            </a:r>
            <a:r>
              <a:rPr lang="it-IT" dirty="0" smtClean="0"/>
              <a:t> Un operatore può avere forma quadratica </a:t>
            </a:r>
            <a:r>
              <a:rPr lang="it-IT" i="1" dirty="0" err="1" smtClean="0"/>
              <a:t>a</a:t>
            </a:r>
            <a:r>
              <a:rPr lang="it-IT" baseline="-25000" dirty="0" err="1" smtClean="0"/>
              <a:t>ij</a:t>
            </a:r>
            <a:r>
              <a:rPr lang="it-IT" dirty="0" smtClean="0"/>
              <a:t>(</a:t>
            </a:r>
            <a:r>
              <a:rPr lang="it-IT" i="1" dirty="0" smtClean="0"/>
              <a:t>x</a:t>
            </a:r>
            <a:r>
              <a:rPr lang="it-IT" dirty="0" smtClean="0"/>
              <a:t>) che è definita positiva per quasi ogni </a:t>
            </a:r>
            <a:r>
              <a:rPr lang="it-IT" i="1" dirty="0" smtClean="0"/>
              <a:t>x</a:t>
            </a:r>
            <a:r>
              <a:rPr lang="it-IT" dirty="0" smtClean="0"/>
              <a:t> del dominio, ma in qualche punto isolato, o lungo certe linee o superfici, la forma quadratica è solo </a:t>
            </a:r>
            <a:r>
              <a:rPr lang="it-IT" dirty="0" err="1" smtClean="0"/>
              <a:t>semidefinita</a:t>
            </a:r>
            <a:r>
              <a:rPr lang="it-IT" dirty="0" smtClean="0"/>
              <a:t> positiva. In questo caso si dice che l’operatore è </a:t>
            </a:r>
            <a:r>
              <a:rPr lang="it-IT" b="1" i="1" dirty="0" smtClean="0"/>
              <a:t>ellittico degenere. </a:t>
            </a:r>
            <a:r>
              <a:rPr lang="it-IT" dirty="0" smtClean="0"/>
              <a:t>Ad esempio:</a:t>
            </a:r>
            <a:endParaRPr lang="it-IT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9872" y="4077072"/>
            <a:ext cx="2304256" cy="54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sellaDiTesto 5"/>
          <p:cNvSpPr txBox="1"/>
          <p:nvPr/>
        </p:nvSpPr>
        <p:spPr>
          <a:xfrm>
            <a:off x="467544" y="4581128"/>
            <a:ext cx="8352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è ellittico in </a:t>
            </a:r>
            <a:r>
              <a:rPr lang="it-IT" dirty="0" err="1" smtClean="0"/>
              <a:t>R²</a:t>
            </a:r>
            <a:r>
              <a:rPr lang="it-IT" dirty="0" smtClean="0"/>
              <a:t> privato della retta </a:t>
            </a:r>
            <a:r>
              <a:rPr lang="it-IT" i="1" dirty="0" smtClean="0"/>
              <a:t>x</a:t>
            </a:r>
            <a:r>
              <a:rPr lang="it-IT" dirty="0" smtClean="0"/>
              <a:t>=0, ma l’operatore degenera lungo questa retta. </a:t>
            </a:r>
          </a:p>
          <a:p>
            <a:r>
              <a:rPr lang="it-IT" dirty="0" smtClean="0"/>
              <a:t>L’operatore:</a:t>
            </a:r>
            <a:endParaRPr lang="it-IT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4941168"/>
            <a:ext cx="2950468" cy="477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sellaDiTesto 7"/>
          <p:cNvSpPr txBox="1"/>
          <p:nvPr/>
        </p:nvSpPr>
        <p:spPr>
          <a:xfrm>
            <a:off x="395536" y="5517232"/>
            <a:ext cx="8496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è ellittico in </a:t>
            </a:r>
            <a:r>
              <a:rPr lang="it-IT" dirty="0" err="1" smtClean="0"/>
              <a:t>R²</a:t>
            </a:r>
            <a:r>
              <a:rPr lang="it-IT" dirty="0" smtClean="0"/>
              <a:t> privato dell'origine, ma degenera nell’origine.    </a:t>
            </a:r>
          </a:p>
          <a:p>
            <a:r>
              <a:rPr lang="it-IT" i="1" dirty="0" smtClean="0"/>
              <a:t>Per un operatore ellittico degenere, anche se a coefficienti molto regolari come in questi due esempi, non è necessariamente vero che valgano buone proprietà di regolarizzazione.</a:t>
            </a:r>
            <a:endParaRPr lang="it-IT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  <p:bldP spid="8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/>
          <a:p>
            <a:r>
              <a:rPr lang="it-IT" dirty="0" smtClean="0"/>
              <a:t>Operatori degeneri</a:t>
            </a: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251520" y="1340768"/>
            <a:ext cx="86409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 smtClean="0"/>
              <a:t>b</a:t>
            </a:r>
            <a:r>
              <a:rPr lang="it-IT" dirty="0" smtClean="0"/>
              <a:t>. Un operatore in </a:t>
            </a:r>
            <a:r>
              <a:rPr lang="it-IT" i="1" dirty="0" smtClean="0"/>
              <a:t>n</a:t>
            </a:r>
            <a:r>
              <a:rPr lang="it-IT" dirty="0" smtClean="0"/>
              <a:t> variabili può coinvolgere le derivate seconde di un numero di variabili </a:t>
            </a:r>
            <a:r>
              <a:rPr lang="it-IT" i="1" dirty="0" smtClean="0"/>
              <a:t>k </a:t>
            </a:r>
            <a:r>
              <a:rPr lang="it-IT" dirty="0" smtClean="0"/>
              <a:t>&lt; </a:t>
            </a:r>
            <a:r>
              <a:rPr lang="it-IT" i="1" dirty="0" smtClean="0"/>
              <a:t>n</a:t>
            </a:r>
            <a:r>
              <a:rPr lang="it-IT" dirty="0" smtClean="0"/>
              <a:t>, con la matrice dei coefficienti delle derivate seconde definita positiva (su </a:t>
            </a:r>
            <a:r>
              <a:rPr lang="it-IT" dirty="0" err="1" smtClean="0"/>
              <a:t>R</a:t>
            </a:r>
            <a:r>
              <a:rPr lang="it-IT" baseline="30000" dirty="0" err="1" smtClean="0"/>
              <a:t>k</a:t>
            </a:r>
            <a:r>
              <a:rPr lang="it-IT" dirty="0" smtClean="0"/>
              <a:t>); </a:t>
            </a:r>
          </a:p>
          <a:p>
            <a:r>
              <a:rPr lang="it-IT" dirty="0" smtClean="0"/>
              <a:t>se </a:t>
            </a:r>
            <a:r>
              <a:rPr lang="it-IT" i="1" dirty="0" smtClean="0"/>
              <a:t>k</a:t>
            </a:r>
            <a:r>
              <a:rPr lang="it-IT" dirty="0" smtClean="0"/>
              <a:t>=</a:t>
            </a:r>
            <a:r>
              <a:rPr lang="it-IT" i="1" dirty="0" smtClean="0"/>
              <a:t>n</a:t>
            </a:r>
            <a:r>
              <a:rPr lang="it-IT" dirty="0" smtClean="0"/>
              <a:t>-1 si tratta di un operatore parabolico; </a:t>
            </a:r>
          </a:p>
          <a:p>
            <a:r>
              <a:rPr lang="it-IT" dirty="0" smtClean="0"/>
              <a:t>se però </a:t>
            </a:r>
            <a:r>
              <a:rPr lang="it-IT" i="1" dirty="0" smtClean="0"/>
              <a:t>k</a:t>
            </a:r>
            <a:r>
              <a:rPr lang="it-IT" dirty="0" smtClean="0"/>
              <a:t>&lt;</a:t>
            </a:r>
            <a:r>
              <a:rPr lang="it-IT" i="1" dirty="0" smtClean="0"/>
              <a:t>n</a:t>
            </a:r>
            <a:r>
              <a:rPr lang="it-IT" dirty="0" smtClean="0"/>
              <a:t>-1 l’operatore non è né ellittico né parabolico, si dice </a:t>
            </a:r>
            <a:r>
              <a:rPr lang="it-IT" b="1" i="1" dirty="0" smtClean="0"/>
              <a:t>ultraparabolico</a:t>
            </a:r>
            <a:r>
              <a:rPr lang="it-IT" dirty="0" smtClean="0"/>
              <a:t>. </a:t>
            </a:r>
          </a:p>
          <a:p>
            <a:r>
              <a:rPr lang="it-IT" dirty="0" smtClean="0"/>
              <a:t>Ad esempio</a:t>
            </a:r>
            <a:endParaRPr lang="it-IT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2564904"/>
            <a:ext cx="3193926" cy="570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sellaDiTesto 5"/>
          <p:cNvSpPr txBox="1"/>
          <p:nvPr/>
        </p:nvSpPr>
        <p:spPr>
          <a:xfrm>
            <a:off x="323528" y="3068960"/>
            <a:ext cx="8496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agisce su 4 variabili ma solo 2 compaiono nelle derivate seconde; </a:t>
            </a:r>
          </a:p>
          <a:p>
            <a:r>
              <a:rPr lang="it-IT" dirty="0" smtClean="0"/>
              <a:t>sullo spazio </a:t>
            </a:r>
            <a:r>
              <a:rPr lang="it-IT" dirty="0" err="1" smtClean="0"/>
              <a:t>R²</a:t>
            </a:r>
            <a:r>
              <a:rPr lang="it-IT" dirty="0" smtClean="0"/>
              <a:t> delle variabili (y,z) la forma quadratica delle derivate seconde è positiva: l’operatore è ultraparabolico. Invece</a:t>
            </a:r>
            <a:endParaRPr lang="it-IT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3933056"/>
            <a:ext cx="3289176" cy="580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sellaDiTesto 7"/>
          <p:cNvSpPr txBox="1"/>
          <p:nvPr/>
        </p:nvSpPr>
        <p:spPr>
          <a:xfrm>
            <a:off x="467544" y="4581128"/>
            <a:ext cx="84249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non è nemmeno ultraparabolico perché la parte del second’ordine non è definita positiva nella sua dimensione. (E’ iperbolico).</a:t>
            </a:r>
          </a:p>
          <a:p>
            <a:r>
              <a:rPr lang="it-IT" dirty="0" smtClean="0"/>
              <a:t>Anche dagli operatori ultraparabolici, non ci si possono aspettare a priori le stesse proprietà di regolarità degli operatori uniformemente ellittici o parabolici.</a:t>
            </a:r>
          </a:p>
          <a:p>
            <a:r>
              <a:rPr lang="it-IT" dirty="0" smtClean="0"/>
              <a:t>Lo studio delle proprietà che rendono “buoni” dal punto di vista delle proprietà di regolarizzazione anche </a:t>
            </a:r>
            <a:r>
              <a:rPr lang="it-IT" i="1" dirty="0" smtClean="0"/>
              <a:t>certi </a:t>
            </a:r>
            <a:r>
              <a:rPr lang="it-IT" dirty="0" smtClean="0"/>
              <a:t>operatori ultraparabolici o ellittici degeneri (non tutti!) rientra in un filone di ricerca noto come </a:t>
            </a:r>
            <a:r>
              <a:rPr lang="it-IT" b="1" i="1" dirty="0" smtClean="0"/>
              <a:t>teoria degli operatori ipoellittici</a:t>
            </a:r>
            <a:r>
              <a:rPr lang="it-IT" dirty="0" smtClean="0"/>
              <a:t>.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8" grpId="0" build="p"/>
    </p:bld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2484</Words>
  <Application>Microsoft Office PowerPoint</Application>
  <PresentationFormat>Presentazione su schermo (4:3)</PresentationFormat>
  <Paragraphs>133</Paragraphs>
  <Slides>24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25" baseType="lpstr">
      <vt:lpstr>Tema di Office</vt:lpstr>
      <vt:lpstr>Uno sguardo d’insieme sulle EDP lineari del second’ordine</vt:lpstr>
      <vt:lpstr>Qualche confronto  tra le equazioni studiate fin qui</vt:lpstr>
      <vt:lpstr>Problemi naturali da studiare</vt:lpstr>
      <vt:lpstr>La freccia del tempo</vt:lpstr>
      <vt:lpstr>Regolarità delle soluzioni</vt:lpstr>
      <vt:lpstr>Teoremi di unicità</vt:lpstr>
      <vt:lpstr>Diapositiva 7</vt:lpstr>
      <vt:lpstr>Equazioni ellittiche,  paraboliche, iperboliche </vt:lpstr>
      <vt:lpstr>Equazioni ellittiche,  paraboliche, iperboliche</vt:lpstr>
      <vt:lpstr>Classificazione delle EDP in 2 variabili</vt:lpstr>
      <vt:lpstr>Diapositiva 11</vt:lpstr>
      <vt:lpstr>Diapositiva 12</vt:lpstr>
      <vt:lpstr>Operatori ellittici in n variabili</vt:lpstr>
      <vt:lpstr>Operatori iperbolici in n variabili</vt:lpstr>
      <vt:lpstr>Operatori parabolici in n variabili</vt:lpstr>
      <vt:lpstr>Parte principale e termini di ordine inferiore</vt:lpstr>
      <vt:lpstr>Qualche proprietà degli operatori ellittici, parabolici, iperbolici</vt:lpstr>
      <vt:lpstr>Operatori ellittici, parabolici, iperbolici: a. problemi naturali</vt:lpstr>
      <vt:lpstr>Operatori ellittici: a. problemi naturali</vt:lpstr>
      <vt:lpstr>Operatori iperbolici: a. problemi naturali</vt:lpstr>
      <vt:lpstr>Operatori parabolici: a. problemi naturali</vt:lpstr>
      <vt:lpstr>Operatori ellittici, parabolici, iperbolici: b. Proprietà di regolarizzazione.</vt:lpstr>
      <vt:lpstr>Operatori degeneri</vt:lpstr>
      <vt:lpstr>Operatori degeneri</vt:lpstr>
    </vt:vector>
  </TitlesOfParts>
  <Company>BASTARDS TeaM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Uno sguardo d’insieme sulle EDP lineari del second’ordine</dc:title>
  <dc:creator>Marco</dc:creator>
  <cp:lastModifiedBy>Marco</cp:lastModifiedBy>
  <cp:revision>72</cp:revision>
  <dcterms:created xsi:type="dcterms:W3CDTF">2022-03-25T15:30:30Z</dcterms:created>
  <dcterms:modified xsi:type="dcterms:W3CDTF">2023-03-22T23:05:26Z</dcterms:modified>
</cp:coreProperties>
</file>