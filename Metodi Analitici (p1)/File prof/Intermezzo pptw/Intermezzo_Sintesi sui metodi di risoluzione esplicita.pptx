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hjEFYu2fKY8N/MleBZOHWAMoHI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customschemas.google.com/relationships/presentationmetadata" Target="metadata"/><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type="title">
  <p:cSld name="TITLE">
    <p:spTree>
      <p:nvGrpSpPr>
        <p:cNvPr id="11" name="Shape 11"/>
        <p:cNvGrpSpPr/>
        <p:nvPr/>
      </p:nvGrpSpPr>
      <p:grpSpPr>
        <a:xfrm>
          <a:off x="0" y="0"/>
          <a:ext cx="0" cy="0"/>
          <a:chOff x="0" y="0"/>
          <a:chExt cx="0" cy="0"/>
        </a:xfrm>
      </p:grpSpPr>
      <p:sp>
        <p:nvSpPr>
          <p:cNvPr id="12" name="Google Shape;12;p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type="blank">
  <p:cSld name="BLANK">
    <p:spTree>
      <p:nvGrpSpPr>
        <p:cNvPr id="17" name="Shape 17"/>
        <p:cNvGrpSpPr/>
        <p:nvPr/>
      </p:nvGrpSpPr>
      <p:grpSpPr>
        <a:xfrm>
          <a:off x="0" y="0"/>
          <a:ext cx="0" cy="0"/>
          <a:chOff x="0" y="0"/>
          <a:chExt cx="0" cy="0"/>
        </a:xfrm>
      </p:grpSpPr>
      <p:sp>
        <p:nvSpPr>
          <p:cNvPr id="18" name="Google Shape;18;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21" name="Shape 21"/>
        <p:cNvGrpSpPr/>
        <p:nvPr/>
      </p:nvGrpSpPr>
      <p:grpSpPr>
        <a:xfrm>
          <a:off x="0" y="0"/>
          <a:ext cx="0" cy="0"/>
          <a:chOff x="0" y="0"/>
          <a:chExt cx="0" cy="0"/>
        </a:xfrm>
      </p:grpSpPr>
      <p:sp>
        <p:nvSpPr>
          <p:cNvPr id="22" name="Google Shape;22;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type="secHead">
  <p:cSld name="SECTION_HEADER">
    <p:spTree>
      <p:nvGrpSpPr>
        <p:cNvPr id="27" name="Shape 27"/>
        <p:cNvGrpSpPr/>
        <p:nvPr/>
      </p:nvGrpSpPr>
      <p:grpSpPr>
        <a:xfrm>
          <a:off x="0" y="0"/>
          <a:ext cx="0" cy="0"/>
          <a:chOff x="0" y="0"/>
          <a:chExt cx="0" cy="0"/>
        </a:xfrm>
      </p:grpSpPr>
      <p:sp>
        <p:nvSpPr>
          <p:cNvPr id="28" name="Google Shape;28;p1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33" name="Shape 33"/>
        <p:cNvGrpSpPr/>
        <p:nvPr/>
      </p:nvGrpSpPr>
      <p:grpSpPr>
        <a:xfrm>
          <a:off x="0" y="0"/>
          <a:ext cx="0" cy="0"/>
          <a:chOff x="0" y="0"/>
          <a:chExt cx="0" cy="0"/>
        </a:xfrm>
      </p:grpSpPr>
      <p:sp>
        <p:nvSpPr>
          <p:cNvPr id="34" name="Google Shape;34;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40" name="Shape 40"/>
        <p:cNvGrpSpPr/>
        <p:nvPr/>
      </p:nvGrpSpPr>
      <p:grpSpPr>
        <a:xfrm>
          <a:off x="0" y="0"/>
          <a:ext cx="0" cy="0"/>
          <a:chOff x="0" y="0"/>
          <a:chExt cx="0" cy="0"/>
        </a:xfrm>
      </p:grpSpPr>
      <p:sp>
        <p:nvSpPr>
          <p:cNvPr id="41" name="Google Shape;41;p12"/>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49" name="Shape 49"/>
        <p:cNvGrpSpPr/>
        <p:nvPr/>
      </p:nvGrpSpPr>
      <p:grpSpPr>
        <a:xfrm>
          <a:off x="0" y="0"/>
          <a:ext cx="0" cy="0"/>
          <a:chOff x="0" y="0"/>
          <a:chExt cx="0" cy="0"/>
        </a:xfrm>
      </p:grpSpPr>
      <p:sp>
        <p:nvSpPr>
          <p:cNvPr id="50" name="Google Shape;5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type="objTx">
  <p:cSld name="OBJECT_WITH_CAPTION_TEXT">
    <p:spTree>
      <p:nvGrpSpPr>
        <p:cNvPr id="54" name="Shape 54"/>
        <p:cNvGrpSpPr/>
        <p:nvPr/>
      </p:nvGrpSpPr>
      <p:grpSpPr>
        <a:xfrm>
          <a:off x="0" y="0"/>
          <a:ext cx="0" cy="0"/>
          <a:chOff x="0" y="0"/>
          <a:chExt cx="0" cy="0"/>
        </a:xfrm>
      </p:grpSpPr>
      <p:sp>
        <p:nvSpPr>
          <p:cNvPr id="55" name="Google Shape;55;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type="picTx">
  <p:cSld name="PICTURE_WITH_CAPTION_TEXT">
    <p:spTree>
      <p:nvGrpSpPr>
        <p:cNvPr id="61" name="Shape 61"/>
        <p:cNvGrpSpPr/>
        <p:nvPr/>
      </p:nvGrpSpPr>
      <p:grpSpPr>
        <a:xfrm>
          <a:off x="0" y="0"/>
          <a:ext cx="0" cy="0"/>
          <a:chOff x="0" y="0"/>
          <a:chExt cx="0" cy="0"/>
        </a:xfrm>
      </p:grpSpPr>
      <p:sp>
        <p:nvSpPr>
          <p:cNvPr id="62" name="Google Shape;62;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p:nvPr>
            <p:ph idx="2" type="pic"/>
          </p:nvPr>
        </p:nvSpPr>
        <p:spPr>
          <a:xfrm>
            <a:off x="5183188" y="987425"/>
            <a:ext cx="6172200" cy="4873625"/>
          </a:xfrm>
          <a:prstGeom prst="rect">
            <a:avLst/>
          </a:prstGeom>
          <a:noFill/>
          <a:ln>
            <a:noFill/>
          </a:ln>
        </p:spPr>
      </p:sp>
      <p:sp>
        <p:nvSpPr>
          <p:cNvPr id="64" name="Google Shape;64;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68" name="Shape 68"/>
        <p:cNvGrpSpPr/>
        <p:nvPr/>
      </p:nvGrpSpPr>
      <p:grpSpPr>
        <a:xfrm>
          <a:off x="0" y="0"/>
          <a:ext cx="0" cy="0"/>
          <a:chOff x="0" y="0"/>
          <a:chExt cx="0" cy="0"/>
        </a:xfrm>
      </p:grpSpPr>
      <p:sp>
        <p:nvSpPr>
          <p:cNvPr id="69" name="Google Shape;69;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type="vertTitleAndTx">
  <p:cSld name="VERTICAL_TITLE_AND_VERTICAL_TEXT">
    <p:spTree>
      <p:nvGrpSpPr>
        <p:cNvPr id="74" name="Shape 74"/>
        <p:cNvGrpSpPr/>
        <p:nvPr/>
      </p:nvGrpSpPr>
      <p:grpSpPr>
        <a:xfrm>
          <a:off x="0" y="0"/>
          <a:ext cx="0" cy="0"/>
          <a:chOff x="0" y="0"/>
          <a:chExt cx="0" cy="0"/>
        </a:xfrm>
      </p:grpSpPr>
      <p:sp>
        <p:nvSpPr>
          <p:cNvPr id="75" name="Google Shape;75;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399310" y="66902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it-IT" sz="4000"/>
              <a:t>Qualche osservazione d’insieme sui metodi di risoluzione esplicita visti fin qui e sulle loro condizioni di applicabilità</a:t>
            </a:r>
            <a:endParaRPr sz="4000"/>
          </a:p>
        </p:txBody>
      </p:sp>
      <p:sp>
        <p:nvSpPr>
          <p:cNvPr id="85" name="Google Shape;85;p1"/>
          <p:cNvSpPr txBox="1"/>
          <p:nvPr>
            <p:ph idx="1" type="subTitle"/>
          </p:nvPr>
        </p:nvSpPr>
        <p:spPr>
          <a:xfrm>
            <a:off x="1191491" y="4025987"/>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it-IT"/>
              <a:t>«Un’idea che puoi usare una volta sola è un trucco.</a:t>
            </a:r>
            <a:endParaRPr/>
          </a:p>
          <a:p>
            <a:pPr indent="0" lvl="0" marL="0" rtl="0" algn="ctr">
              <a:lnSpc>
                <a:spcPct val="90000"/>
              </a:lnSpc>
              <a:spcBef>
                <a:spcPts val="1000"/>
              </a:spcBef>
              <a:spcAft>
                <a:spcPts val="0"/>
              </a:spcAft>
              <a:buClr>
                <a:schemeClr val="dk1"/>
              </a:buClr>
              <a:buSzPts val="2400"/>
              <a:buNone/>
            </a:pPr>
            <a:r>
              <a:rPr lang="it-IT"/>
              <a:t>Se la si può usare più di una volta diventa un metodo»</a:t>
            </a:r>
            <a:endParaRPr/>
          </a:p>
          <a:p>
            <a:pPr indent="0" lvl="0" marL="0" rtl="0" algn="ctr">
              <a:lnSpc>
                <a:spcPct val="90000"/>
              </a:lnSpc>
              <a:spcBef>
                <a:spcPts val="1000"/>
              </a:spcBef>
              <a:spcAft>
                <a:spcPts val="0"/>
              </a:spcAft>
              <a:buClr>
                <a:schemeClr val="dk1"/>
              </a:buClr>
              <a:buSzPts val="2400"/>
              <a:buNone/>
            </a:pPr>
            <a:r>
              <a:rPr lang="it-IT"/>
              <a:t>George Polya (1887-1995)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nvSpPr>
        <p:spPr>
          <a:xfrm>
            <a:off x="824146" y="2437707"/>
            <a:ext cx="10646229" cy="175432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it-IT" sz="1800" u="none" cap="none" strike="noStrike">
                <a:solidFill>
                  <a:schemeClr val="dk1"/>
                </a:solidFill>
                <a:latin typeface="Calibri"/>
                <a:ea typeface="Calibri"/>
                <a:cs typeface="Calibri"/>
                <a:sym typeface="Calibri"/>
              </a:rPr>
              <a:t>Principio di sovrapposizione: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E’ un'idea generale che vale per tutte le </a:t>
            </a:r>
            <a:r>
              <a:rPr i="1" lang="it-IT" sz="1800">
                <a:solidFill>
                  <a:schemeClr val="dk1"/>
                </a:solidFill>
                <a:latin typeface="Calibri"/>
                <a:ea typeface="Calibri"/>
                <a:cs typeface="Calibri"/>
                <a:sym typeface="Calibri"/>
              </a:rPr>
              <a:t>equazioni lineari</a:t>
            </a:r>
            <a:r>
              <a:rPr lang="it-IT"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Permette di ottenere la soluzione di un problema che ha diversi dati assegnati (condizioni iniziali, al contorno, termine noto...) come somma di soluzioni di più problemi, ciascuno dei quali ha tutti i dati nulli tranne uno.</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Così si decompone un problema complesso in diversi sottoproblemi più semplici (che vanno risolti ciascuno col proprio metodo).</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anim calcmode="lin" valueType="num">
                                      <p:cBhvr additive="base">
                                        <p:cTn dur="500"/>
                                        <p:tgtEl>
                                          <p:spTgt spid="9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anim calcmode="lin" valueType="num">
                                      <p:cBhvr additive="base">
                                        <p:cTn dur="500"/>
                                        <p:tgtEl>
                                          <p:spTgt spid="9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anim calcmode="lin" valueType="num">
                                      <p:cBhvr additive="base">
                                        <p:cTn dur="500"/>
                                        <p:tgtEl>
                                          <p:spTgt spid="9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anim calcmode="lin" valueType="num">
                                      <p:cBhvr additive="base">
                                        <p:cTn dur="500"/>
                                        <p:tgtEl>
                                          <p:spTgt spid="9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nvSpPr>
        <p:spPr>
          <a:xfrm>
            <a:off x="682830" y="518832"/>
            <a:ext cx="10415847" cy="61863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1800">
                <a:solidFill>
                  <a:schemeClr val="dk1"/>
                </a:solidFill>
                <a:latin typeface="Calibri"/>
                <a:ea typeface="Calibri"/>
                <a:cs typeface="Calibri"/>
                <a:sym typeface="Calibri"/>
              </a:rPr>
              <a:t>Metodo di separazione di variabili:</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Richiede necessariamente: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a. </a:t>
            </a:r>
            <a:r>
              <a:rPr lang="it-IT" sz="1800">
                <a:solidFill>
                  <a:schemeClr val="dk1"/>
                </a:solidFill>
                <a:latin typeface="Calibri"/>
                <a:ea typeface="Calibri"/>
                <a:cs typeface="Calibri"/>
                <a:sym typeface="Calibri"/>
              </a:rPr>
              <a:t>equazione lineare omogenea (non necessariamente a coefficienti costanti, v. laplaciano nel cerchio);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b. </a:t>
            </a:r>
            <a:r>
              <a:rPr lang="it-IT" sz="1800">
                <a:solidFill>
                  <a:schemeClr val="dk1"/>
                </a:solidFill>
                <a:latin typeface="Calibri"/>
                <a:ea typeface="Calibri"/>
                <a:cs typeface="Calibri"/>
                <a:sym typeface="Calibri"/>
              </a:rPr>
              <a:t>dominio a variabili separate (in opportune variabili);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(Se non valgono </a:t>
            </a:r>
            <a:r>
              <a:rPr i="1" lang="it-IT" sz="1800">
                <a:solidFill>
                  <a:schemeClr val="dk1"/>
                </a:solidFill>
                <a:latin typeface="Calibri"/>
                <a:ea typeface="Calibri"/>
                <a:cs typeface="Calibri"/>
                <a:sym typeface="Calibri"/>
              </a:rPr>
              <a:t>a</a:t>
            </a:r>
            <a:r>
              <a:rPr lang="it-IT" sz="1800">
                <a:solidFill>
                  <a:schemeClr val="dk1"/>
                </a:solidFill>
                <a:latin typeface="Calibri"/>
                <a:ea typeface="Calibri"/>
                <a:cs typeface="Calibri"/>
                <a:sym typeface="Calibri"/>
              </a:rPr>
              <a:t> e </a:t>
            </a:r>
            <a:r>
              <a:rPr i="1" lang="it-IT" sz="1800">
                <a:solidFill>
                  <a:schemeClr val="dk1"/>
                </a:solidFill>
                <a:latin typeface="Calibri"/>
                <a:ea typeface="Calibri"/>
                <a:cs typeface="Calibri"/>
                <a:sym typeface="Calibri"/>
              </a:rPr>
              <a:t>b</a:t>
            </a:r>
            <a:r>
              <a:rPr lang="it-IT" sz="1800">
                <a:solidFill>
                  <a:schemeClr val="dk1"/>
                </a:solidFill>
                <a:latin typeface="Calibri"/>
                <a:ea typeface="Calibri"/>
                <a:cs typeface="Calibri"/>
                <a:sym typeface="Calibri"/>
              </a:rPr>
              <a:t>, non si parte nemmeno)</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Si applica preferibilmente a:</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c</a:t>
            </a:r>
            <a:r>
              <a:rPr lang="it-IT" sz="1800">
                <a:solidFill>
                  <a:schemeClr val="dk1"/>
                </a:solidFill>
                <a:latin typeface="Calibri"/>
                <a:ea typeface="Calibri"/>
                <a:cs typeface="Calibri"/>
                <a:sym typeface="Calibri"/>
              </a:rPr>
              <a:t>. dominio limitato con condizioni al contorno omogenee (questo di solito porta a una successione di autovalori)…</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…oppure su tutto lo spazio con opportune condizioni all'infinito (è il caso ad es. dell’equazione di Schröödinger per l’atomo di idrogeno).</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d</a:t>
            </a:r>
            <a:r>
              <a:rPr lang="it-IT" sz="1800">
                <a:solidFill>
                  <a:schemeClr val="dk1"/>
                </a:solidFill>
                <a:latin typeface="Calibri"/>
                <a:ea typeface="Calibri"/>
                <a:cs typeface="Calibri"/>
                <a:sym typeface="Calibri"/>
              </a:rPr>
              <a:t>. Infine, il metodo spezza le variabili necessariamente in </a:t>
            </a:r>
            <a:r>
              <a:rPr i="1" lang="it-IT" sz="1800">
                <a:solidFill>
                  <a:schemeClr val="dk1"/>
                </a:solidFill>
                <a:latin typeface="Calibri"/>
                <a:ea typeface="Calibri"/>
                <a:cs typeface="Calibri"/>
                <a:sym typeface="Calibri"/>
              </a:rPr>
              <a:t>due</a:t>
            </a:r>
            <a:r>
              <a:rPr lang="it-IT" sz="1800">
                <a:solidFill>
                  <a:schemeClr val="dk1"/>
                </a:solidFill>
                <a:latin typeface="Calibri"/>
                <a:ea typeface="Calibri"/>
                <a:cs typeface="Calibri"/>
                <a:sym typeface="Calibri"/>
              </a:rPr>
              <a:t> blocchi per volta. E’ elementare per equazioni in 2 variabili, altre volte separa una variabile dal blocco delle altre variabili (ad esempio: tempo / spazio) o si usa in più passi successivi.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Esempi visti</a:t>
            </a:r>
            <a:r>
              <a:rPr lang="it-IT"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problema di Dirichlet per l’equazione di Laplace sul cerchio;</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problema di Cauchy-Dirichlet o Cauchy-Neumann per l’equazione (omogenea) del calore o della corda vibrante sul segmento o sul rettangolo.</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Nota. </a:t>
            </a:r>
            <a:r>
              <a:rPr lang="it-IT" sz="1800">
                <a:solidFill>
                  <a:schemeClr val="dk1"/>
                </a:solidFill>
                <a:latin typeface="Calibri"/>
                <a:ea typeface="Calibri"/>
                <a:cs typeface="Calibri"/>
                <a:sym typeface="Calibri"/>
              </a:rPr>
              <a:t>Il motivo profondo per cui il metodo funziona è legato all’esistenza di </a:t>
            </a:r>
            <a:r>
              <a:rPr i="1" lang="it-IT" sz="1800">
                <a:solidFill>
                  <a:schemeClr val="dk1"/>
                </a:solidFill>
                <a:latin typeface="Calibri"/>
                <a:ea typeface="Calibri"/>
                <a:cs typeface="Calibri"/>
                <a:sym typeface="Calibri"/>
              </a:rPr>
              <a:t>sistemi ortonormali completi di soluzioni di problemi differenziali</a:t>
            </a:r>
            <a:r>
              <a:rPr lang="it-IT"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In tutti gli esempi visti nel corso si trattava del </a:t>
            </a:r>
            <a:r>
              <a:rPr i="1" lang="it-IT" sz="1800">
                <a:solidFill>
                  <a:schemeClr val="dk1"/>
                </a:solidFill>
                <a:latin typeface="Calibri"/>
                <a:ea typeface="Calibri"/>
                <a:cs typeface="Calibri"/>
                <a:sym typeface="Calibri"/>
              </a:rPr>
              <a:t>sistema trigonometrico</a:t>
            </a:r>
            <a:r>
              <a:rPr lang="it-IT"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Esistono altre situazioni interessanti in cui è necessario utilizzare s.o.n.c. di funzioni speciali (es. armoniche sferiche, funzioni di Hermite, funzioni di Bessel…).</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anim calcmode="lin" valueType="num">
                                      <p:cBhvr additive="base">
                                        <p:cTn dur="500"/>
                                        <p:tgtEl>
                                          <p:spTgt spid="95">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anim calcmode="lin" valueType="num">
                                      <p:cBhvr additive="base">
                                        <p:cTn dur="500"/>
                                        <p:tgtEl>
                                          <p:spTgt spid="95">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anim calcmode="lin" valueType="num">
                                      <p:cBhvr additive="base">
                                        <p:cTn dur="500"/>
                                        <p:tgtEl>
                                          <p:spTgt spid="95">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anim calcmode="lin" valueType="num">
                                      <p:cBhvr additive="base">
                                        <p:cTn dur="500"/>
                                        <p:tgtEl>
                                          <p:spTgt spid="95">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anim calcmode="lin" valueType="num">
                                      <p:cBhvr additive="base">
                                        <p:cTn dur="500"/>
                                        <p:tgtEl>
                                          <p:spTgt spid="95">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5" st="5"/>
                                            </p:txEl>
                                          </p:spTgt>
                                        </p:tgtEl>
                                        <p:attrNameLst>
                                          <p:attrName>style.visibility</p:attrName>
                                        </p:attrNameLst>
                                      </p:cBhvr>
                                      <p:to>
                                        <p:strVal val="visible"/>
                                      </p:to>
                                    </p:set>
                                    <p:anim calcmode="lin" valueType="num">
                                      <p:cBhvr additive="base">
                                        <p:cTn dur="500"/>
                                        <p:tgtEl>
                                          <p:spTgt spid="95">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6" st="6"/>
                                            </p:txEl>
                                          </p:spTgt>
                                        </p:tgtEl>
                                        <p:attrNameLst>
                                          <p:attrName>style.visibility</p:attrName>
                                        </p:attrNameLst>
                                      </p:cBhvr>
                                      <p:to>
                                        <p:strVal val="visible"/>
                                      </p:to>
                                    </p:set>
                                    <p:anim calcmode="lin" valueType="num">
                                      <p:cBhvr additive="base">
                                        <p:cTn dur="500"/>
                                        <p:tgtEl>
                                          <p:spTgt spid="95">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7" st="7"/>
                                            </p:txEl>
                                          </p:spTgt>
                                        </p:tgtEl>
                                        <p:attrNameLst>
                                          <p:attrName>style.visibility</p:attrName>
                                        </p:attrNameLst>
                                      </p:cBhvr>
                                      <p:to>
                                        <p:strVal val="visible"/>
                                      </p:to>
                                    </p:set>
                                    <p:anim calcmode="lin" valueType="num">
                                      <p:cBhvr additive="base">
                                        <p:cTn dur="500"/>
                                        <p:tgtEl>
                                          <p:spTgt spid="95">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8" st="8"/>
                                            </p:txEl>
                                          </p:spTgt>
                                        </p:tgtEl>
                                        <p:attrNameLst>
                                          <p:attrName>style.visibility</p:attrName>
                                        </p:attrNameLst>
                                      </p:cBhvr>
                                      <p:to>
                                        <p:strVal val="visible"/>
                                      </p:to>
                                    </p:set>
                                    <p:anim calcmode="lin" valueType="num">
                                      <p:cBhvr additive="base">
                                        <p:cTn dur="500"/>
                                        <p:tgtEl>
                                          <p:spTgt spid="95">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9" st="9"/>
                                            </p:txEl>
                                          </p:spTgt>
                                        </p:tgtEl>
                                        <p:attrNameLst>
                                          <p:attrName>style.visibility</p:attrName>
                                        </p:attrNameLst>
                                      </p:cBhvr>
                                      <p:to>
                                        <p:strVal val="visible"/>
                                      </p:to>
                                    </p:set>
                                    <p:anim calcmode="lin" valueType="num">
                                      <p:cBhvr additive="base">
                                        <p:cTn dur="500"/>
                                        <p:tgtEl>
                                          <p:spTgt spid="95">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10" st="10"/>
                                            </p:txEl>
                                          </p:spTgt>
                                        </p:tgtEl>
                                        <p:attrNameLst>
                                          <p:attrName>style.visibility</p:attrName>
                                        </p:attrNameLst>
                                      </p:cBhvr>
                                      <p:to>
                                        <p:strVal val="visible"/>
                                      </p:to>
                                    </p:set>
                                    <p:anim calcmode="lin" valueType="num">
                                      <p:cBhvr additive="base">
                                        <p:cTn dur="500"/>
                                        <p:tgtEl>
                                          <p:spTgt spid="95">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11" st="11"/>
                                            </p:txEl>
                                          </p:spTgt>
                                        </p:tgtEl>
                                        <p:attrNameLst>
                                          <p:attrName>style.visibility</p:attrName>
                                        </p:attrNameLst>
                                      </p:cBhvr>
                                      <p:to>
                                        <p:strVal val="visible"/>
                                      </p:to>
                                    </p:set>
                                    <p:anim calcmode="lin" valueType="num">
                                      <p:cBhvr additive="base">
                                        <p:cTn dur="500"/>
                                        <p:tgtEl>
                                          <p:spTgt spid="95">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12" st="12"/>
                                            </p:txEl>
                                          </p:spTgt>
                                        </p:tgtEl>
                                        <p:attrNameLst>
                                          <p:attrName>style.visibility</p:attrName>
                                        </p:attrNameLst>
                                      </p:cBhvr>
                                      <p:to>
                                        <p:strVal val="visible"/>
                                      </p:to>
                                    </p:set>
                                    <p:anim calcmode="lin" valueType="num">
                                      <p:cBhvr additive="base">
                                        <p:cTn dur="500"/>
                                        <p:tgtEl>
                                          <p:spTgt spid="95">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13" st="13"/>
                                            </p:txEl>
                                          </p:spTgt>
                                        </p:tgtEl>
                                        <p:attrNameLst>
                                          <p:attrName>style.visibility</p:attrName>
                                        </p:attrNameLst>
                                      </p:cBhvr>
                                      <p:to>
                                        <p:strVal val="visible"/>
                                      </p:to>
                                    </p:set>
                                    <p:anim calcmode="lin" valueType="num">
                                      <p:cBhvr additive="base">
                                        <p:cTn dur="500"/>
                                        <p:tgtEl>
                                          <p:spTgt spid="95">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95">
                                            <p:txEl>
                                              <p:pRg end="14" st="14"/>
                                            </p:txEl>
                                          </p:spTgt>
                                        </p:tgtEl>
                                        <p:attrNameLst>
                                          <p:attrName>style.visibility</p:attrName>
                                        </p:attrNameLst>
                                      </p:cBhvr>
                                      <p:to>
                                        <p:strVal val="visible"/>
                                      </p:to>
                                    </p:set>
                                    <p:anim calcmode="lin" valueType="num">
                                      <p:cBhvr additive="base">
                                        <p:cTn dur="500"/>
                                        <p:tgtEl>
                                          <p:spTgt spid="95">
                                            <p:txEl>
                                              <p:pRg end="14" st="1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4"/>
          <p:cNvSpPr txBox="1"/>
          <p:nvPr/>
        </p:nvSpPr>
        <p:spPr>
          <a:xfrm>
            <a:off x="914400" y="182879"/>
            <a:ext cx="10291200" cy="341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1800">
                <a:solidFill>
                  <a:schemeClr val="dk1"/>
                </a:solidFill>
                <a:latin typeface="Calibri"/>
                <a:ea typeface="Calibri"/>
                <a:cs typeface="Calibri"/>
                <a:sym typeface="Calibri"/>
              </a:rPr>
              <a:t>Trasformata di Fourier:</a:t>
            </a:r>
            <a:r>
              <a:rPr lang="it-IT"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Richiede necessariamente: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a</a:t>
            </a:r>
            <a:r>
              <a:rPr lang="it-IT" sz="1800">
                <a:solidFill>
                  <a:schemeClr val="dk1"/>
                </a:solidFill>
                <a:latin typeface="Calibri"/>
                <a:ea typeface="Calibri"/>
                <a:cs typeface="Calibri"/>
                <a:sym typeface="Calibri"/>
              </a:rPr>
              <a:t>. Equazione lineare (non necessariamente omogenea);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b</a:t>
            </a:r>
            <a:r>
              <a:rPr lang="it-IT" sz="1800">
                <a:solidFill>
                  <a:schemeClr val="dk1"/>
                </a:solidFill>
                <a:latin typeface="Calibri"/>
                <a:ea typeface="Calibri"/>
                <a:cs typeface="Calibri"/>
                <a:sym typeface="Calibri"/>
              </a:rPr>
              <a:t>. Le variabili rispetto a cui si trasforma devono variare in tutto lo spazio;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c</a:t>
            </a:r>
            <a:r>
              <a:rPr lang="it-IT" sz="1800">
                <a:solidFill>
                  <a:schemeClr val="dk1"/>
                </a:solidFill>
                <a:latin typeface="Calibri"/>
                <a:ea typeface="Calibri"/>
                <a:cs typeface="Calibri"/>
                <a:sym typeface="Calibri"/>
              </a:rPr>
              <a:t>. il metodo funziona bene se i coefficienti sono costanti o al massimo se sono funzioni del tipo ax+b: nella trasformata, la moltiplicazione per x diventa una derivata.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Esempi visti: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problema di Dirichlet per l’equazione di Laplace sul semipiano;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problema di Cauchy per l’equazione del calore in Rⁿ (o per l'equazione di diffusione, trasporto, reazione sulla retta).</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Nota: </a:t>
            </a:r>
            <a:r>
              <a:rPr lang="it-IT" sz="1800">
                <a:solidFill>
                  <a:schemeClr val="dk1"/>
                </a:solidFill>
                <a:latin typeface="Calibri"/>
                <a:ea typeface="Calibri"/>
                <a:cs typeface="Calibri"/>
                <a:sym typeface="Calibri"/>
              </a:rPr>
              <a:t>anche la </a:t>
            </a:r>
            <a:r>
              <a:rPr i="1" lang="it-IT" sz="1800">
                <a:solidFill>
                  <a:schemeClr val="dk1"/>
                </a:solidFill>
                <a:latin typeface="Calibri"/>
                <a:ea typeface="Calibri"/>
                <a:cs typeface="Calibri"/>
                <a:sym typeface="Calibri"/>
              </a:rPr>
              <a:t>trasformata di Laplace </a:t>
            </a:r>
            <a:r>
              <a:rPr lang="it-IT" sz="1800">
                <a:solidFill>
                  <a:schemeClr val="dk1"/>
                </a:solidFill>
                <a:latin typeface="Calibri"/>
                <a:ea typeface="Calibri"/>
                <a:cs typeface="Calibri"/>
                <a:sym typeface="Calibri"/>
              </a:rPr>
              <a:t>è utile per certi problemi differenziali, anche se nel corso non ne abbiamo visti esempi.</a:t>
            </a:r>
            <a:endParaRPr sz="1800">
              <a:solidFill>
                <a:schemeClr val="dk1"/>
              </a:solidFill>
              <a:latin typeface="Calibri"/>
              <a:ea typeface="Calibri"/>
              <a:cs typeface="Calibri"/>
              <a:sym typeface="Calibri"/>
            </a:endParaRPr>
          </a:p>
        </p:txBody>
      </p:sp>
      <p:sp>
        <p:nvSpPr>
          <p:cNvPr id="101" name="Google Shape;101;p4"/>
          <p:cNvSpPr txBox="1"/>
          <p:nvPr/>
        </p:nvSpPr>
        <p:spPr>
          <a:xfrm>
            <a:off x="914400" y="3757141"/>
            <a:ext cx="10490662" cy="286232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1800">
                <a:solidFill>
                  <a:schemeClr val="dk1"/>
                </a:solidFill>
                <a:latin typeface="Calibri"/>
                <a:ea typeface="Calibri"/>
                <a:cs typeface="Calibri"/>
                <a:sym typeface="Calibri"/>
              </a:rPr>
              <a:t>Metodo di Duhamel</a:t>
            </a:r>
            <a:r>
              <a:rPr lang="it-IT"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Si applica al </a:t>
            </a:r>
            <a:r>
              <a:rPr i="1" lang="it-IT" sz="1800">
                <a:solidFill>
                  <a:schemeClr val="dk1"/>
                </a:solidFill>
                <a:latin typeface="Calibri"/>
                <a:ea typeface="Calibri"/>
                <a:cs typeface="Calibri"/>
                <a:sym typeface="Calibri"/>
              </a:rPr>
              <a:t>problema di Cauchy per equazioni di evoluzione</a:t>
            </a:r>
            <a:r>
              <a:rPr lang="it-IT"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Richiede che sia già conosciuta la formula risolutiva quando l'equazione è omogenea, e riconduce a questo caso l'equazione omogenea.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Si deve saper risolvere il problema di Cauchy per l'equazione omogenea quando la condizione iniziale è assegnata a un generico istante </a:t>
            </a:r>
            <a:r>
              <a:rPr i="1" lang="it-IT" sz="1800">
                <a:solidFill>
                  <a:schemeClr val="dk1"/>
                </a:solidFill>
                <a:latin typeface="Calibri"/>
                <a:ea typeface="Calibri"/>
                <a:cs typeface="Calibri"/>
                <a:sym typeface="Calibri"/>
              </a:rPr>
              <a:t>s</a:t>
            </a:r>
            <a:r>
              <a:rPr lang="it-IT" sz="1800">
                <a:solidFill>
                  <a:schemeClr val="dk1"/>
                </a:solidFill>
                <a:latin typeface="Calibri"/>
                <a:ea typeface="Calibri"/>
                <a:cs typeface="Calibri"/>
                <a:sym typeface="Calibri"/>
              </a:rPr>
              <a:t> anche non zero (sfrutta l’invarianza per traslazioni temporali).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Esempi visti: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equazione non omogenea del calore in tutto lo spazio (o sul segmento);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equazione non omogenea del trasporto lineare sulla retta;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equazione non omogenea della corda vibrante sulla retta (o sul segmento).</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anim calcmode="lin" valueType="num">
                                      <p:cBhvr additive="base">
                                        <p:cTn dur="500"/>
                                        <p:tgtEl>
                                          <p:spTgt spid="100">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anim calcmode="lin" valueType="num">
                                      <p:cBhvr additive="base">
                                        <p:cTn dur="500"/>
                                        <p:tgtEl>
                                          <p:spTgt spid="100">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anim calcmode="lin" valueType="num">
                                      <p:cBhvr additive="base">
                                        <p:cTn dur="500"/>
                                        <p:tgtEl>
                                          <p:spTgt spid="100">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anim calcmode="lin" valueType="num">
                                      <p:cBhvr additive="base">
                                        <p:cTn dur="500"/>
                                        <p:tgtEl>
                                          <p:spTgt spid="100">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4" st="4"/>
                                            </p:txEl>
                                          </p:spTgt>
                                        </p:tgtEl>
                                        <p:attrNameLst>
                                          <p:attrName>style.visibility</p:attrName>
                                        </p:attrNameLst>
                                      </p:cBhvr>
                                      <p:to>
                                        <p:strVal val="visible"/>
                                      </p:to>
                                    </p:set>
                                    <p:anim calcmode="lin" valueType="num">
                                      <p:cBhvr additive="base">
                                        <p:cTn dur="500"/>
                                        <p:tgtEl>
                                          <p:spTgt spid="100">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5" st="5"/>
                                            </p:txEl>
                                          </p:spTgt>
                                        </p:tgtEl>
                                        <p:attrNameLst>
                                          <p:attrName>style.visibility</p:attrName>
                                        </p:attrNameLst>
                                      </p:cBhvr>
                                      <p:to>
                                        <p:strVal val="visible"/>
                                      </p:to>
                                    </p:set>
                                    <p:anim calcmode="lin" valueType="num">
                                      <p:cBhvr additive="base">
                                        <p:cTn dur="500"/>
                                        <p:tgtEl>
                                          <p:spTgt spid="10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6" st="6"/>
                                            </p:txEl>
                                          </p:spTgt>
                                        </p:tgtEl>
                                        <p:attrNameLst>
                                          <p:attrName>style.visibility</p:attrName>
                                        </p:attrNameLst>
                                      </p:cBhvr>
                                      <p:to>
                                        <p:strVal val="visible"/>
                                      </p:to>
                                    </p:set>
                                    <p:anim calcmode="lin" valueType="num">
                                      <p:cBhvr additive="base">
                                        <p:cTn dur="500"/>
                                        <p:tgtEl>
                                          <p:spTgt spid="100">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7" st="7"/>
                                            </p:txEl>
                                          </p:spTgt>
                                        </p:tgtEl>
                                        <p:attrNameLst>
                                          <p:attrName>style.visibility</p:attrName>
                                        </p:attrNameLst>
                                      </p:cBhvr>
                                      <p:to>
                                        <p:strVal val="visible"/>
                                      </p:to>
                                    </p:set>
                                    <p:anim calcmode="lin" valueType="num">
                                      <p:cBhvr additive="base">
                                        <p:cTn dur="500"/>
                                        <p:tgtEl>
                                          <p:spTgt spid="100">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0">
                                            <p:txEl>
                                              <p:pRg end="8" st="8"/>
                                            </p:txEl>
                                          </p:spTgt>
                                        </p:tgtEl>
                                        <p:attrNameLst>
                                          <p:attrName>style.visibility</p:attrName>
                                        </p:attrNameLst>
                                      </p:cBhvr>
                                      <p:to>
                                        <p:strVal val="visible"/>
                                      </p:to>
                                    </p:set>
                                    <p:anim calcmode="lin" valueType="num">
                                      <p:cBhvr additive="base">
                                        <p:cTn dur="500"/>
                                        <p:tgtEl>
                                          <p:spTgt spid="100">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anim calcmode="lin" valueType="num">
                                      <p:cBhvr additive="base">
                                        <p:cTn dur="500"/>
                                        <p:tgtEl>
                                          <p:spTgt spid="101">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anim calcmode="lin" valueType="num">
                                      <p:cBhvr additive="base">
                                        <p:cTn dur="500"/>
                                        <p:tgtEl>
                                          <p:spTgt spid="101">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anim calcmode="lin" valueType="num">
                                      <p:cBhvr additive="base">
                                        <p:cTn dur="500"/>
                                        <p:tgtEl>
                                          <p:spTgt spid="101">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anim calcmode="lin" valueType="num">
                                      <p:cBhvr additive="base">
                                        <p:cTn dur="500"/>
                                        <p:tgtEl>
                                          <p:spTgt spid="101">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anim calcmode="lin" valueType="num">
                                      <p:cBhvr additive="base">
                                        <p:cTn dur="500"/>
                                        <p:tgtEl>
                                          <p:spTgt spid="101">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anim calcmode="lin" valueType="num">
                                      <p:cBhvr additive="base">
                                        <p:cTn dur="500"/>
                                        <p:tgtEl>
                                          <p:spTgt spid="101">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6" st="6"/>
                                            </p:txEl>
                                          </p:spTgt>
                                        </p:tgtEl>
                                        <p:attrNameLst>
                                          <p:attrName>style.visibility</p:attrName>
                                        </p:attrNameLst>
                                      </p:cBhvr>
                                      <p:to>
                                        <p:strVal val="visible"/>
                                      </p:to>
                                    </p:set>
                                    <p:anim calcmode="lin" valueType="num">
                                      <p:cBhvr additive="base">
                                        <p:cTn dur="500"/>
                                        <p:tgtEl>
                                          <p:spTgt spid="101">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1">
                                            <p:txEl>
                                              <p:pRg end="7" st="7"/>
                                            </p:txEl>
                                          </p:spTgt>
                                        </p:tgtEl>
                                        <p:attrNameLst>
                                          <p:attrName>style.visibility</p:attrName>
                                        </p:attrNameLst>
                                      </p:cBhvr>
                                      <p:to>
                                        <p:strVal val="visible"/>
                                      </p:to>
                                    </p:set>
                                    <p:anim calcmode="lin" valueType="num">
                                      <p:cBhvr additive="base">
                                        <p:cTn dur="500"/>
                                        <p:tgtEl>
                                          <p:spTgt spid="101">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5"/>
          <p:cNvSpPr txBox="1"/>
          <p:nvPr/>
        </p:nvSpPr>
        <p:spPr>
          <a:xfrm>
            <a:off x="598516" y="532015"/>
            <a:ext cx="11296997" cy="53553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it-IT" sz="1800">
                <a:solidFill>
                  <a:schemeClr val="dk1"/>
                </a:solidFill>
                <a:latin typeface="Calibri"/>
                <a:ea typeface="Calibri"/>
                <a:cs typeface="Calibri"/>
                <a:sym typeface="Calibri"/>
              </a:rPr>
              <a:t>Metodo della funzione di Green:</a:t>
            </a:r>
            <a:r>
              <a:rPr lang="it-IT" sz="1800">
                <a:solidFill>
                  <a:schemeClr val="dk1"/>
                </a:solidFill>
                <a:latin typeface="Calibri"/>
                <a:ea typeface="Calibri"/>
                <a:cs typeface="Calibri"/>
                <a:sym typeface="Calibri"/>
              </a:rPr>
              <a:t>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Si applica all'equazione di Poisson </a:t>
            </a:r>
            <a:r>
              <a:rPr lang="it-IT" sz="1800">
                <a:solidFill>
                  <a:schemeClr val="dk1"/>
                </a:solidFill>
                <a:latin typeface="Calibri"/>
                <a:ea typeface="Calibri"/>
                <a:cs typeface="Calibri"/>
                <a:sym typeface="Calibri"/>
              </a:rPr>
              <a:t>(equazione non omogenea che non è di evoluzione, quindi il metodo di Duhamel non è pertinente).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Esempi visti: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equazione di Poisson sulla sfera (o sul cerchio) o nel semispazio (o nel semipiano). </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b="1" lang="it-IT" sz="1800">
                <a:solidFill>
                  <a:schemeClr val="dk1"/>
                </a:solidFill>
                <a:latin typeface="Calibri"/>
                <a:ea typeface="Calibri"/>
                <a:cs typeface="Calibri"/>
                <a:sym typeface="Calibri"/>
              </a:rPr>
              <a:t>Metodi di cambio di variabili</a:t>
            </a:r>
            <a:r>
              <a:rPr lang="it-IT"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Ne abbiamo visti due tipi:</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-introduzione di una </a:t>
            </a:r>
            <a:r>
              <a:rPr i="1" lang="it-IT" sz="1800">
                <a:solidFill>
                  <a:schemeClr val="dk1"/>
                </a:solidFill>
                <a:latin typeface="Calibri"/>
                <a:ea typeface="Calibri"/>
                <a:cs typeface="Calibri"/>
                <a:sym typeface="Calibri"/>
              </a:rPr>
              <a:t>funzione incognita ausiliaria</a:t>
            </a:r>
            <a:r>
              <a:rPr lang="it-IT" sz="1800">
                <a:solidFill>
                  <a:schemeClr val="dk1"/>
                </a:solidFill>
                <a:latin typeface="Calibri"/>
                <a:ea typeface="Calibri"/>
                <a:cs typeface="Calibri"/>
                <a:sym typeface="Calibri"/>
              </a:rPr>
              <a:t>.</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Esempi visti: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per l'equazione di diffusione, trasporto, reazione, per eliminare i termini di ordine inferiore riconducendosi all’equazione-base di diffusione, che si suppone già studiata. </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a:t>
            </a:r>
            <a:r>
              <a:rPr i="1" lang="it-IT" sz="1800">
                <a:solidFill>
                  <a:schemeClr val="dk1"/>
                </a:solidFill>
                <a:latin typeface="Calibri"/>
                <a:ea typeface="Calibri"/>
                <a:cs typeface="Calibri"/>
                <a:sym typeface="Calibri"/>
              </a:rPr>
              <a:t>metodo delle caratteristiche</a:t>
            </a:r>
            <a:r>
              <a:rPr lang="it-IT" sz="1800">
                <a:solidFill>
                  <a:schemeClr val="dk1"/>
                </a:solidFill>
                <a:latin typeface="Calibri"/>
                <a:ea typeface="Calibri"/>
                <a:cs typeface="Calibri"/>
                <a:sym typeface="Calibri"/>
              </a:rPr>
              <a:t>: si esegue un cambio di coordinate nello spazio-tempo, con cui l'equazione viene riportata a una forma canonica elementare. </a:t>
            </a:r>
            <a:endParaRPr/>
          </a:p>
          <a:p>
            <a:pPr indent="0" lvl="0" marL="0" marR="0" rtl="0" algn="l">
              <a:spcBef>
                <a:spcPts val="0"/>
              </a:spcBef>
              <a:spcAft>
                <a:spcPts val="0"/>
              </a:spcAft>
              <a:buNone/>
            </a:pPr>
            <a:r>
              <a:rPr i="1" lang="it-IT" sz="1800">
                <a:solidFill>
                  <a:schemeClr val="dk1"/>
                </a:solidFill>
                <a:latin typeface="Calibri"/>
                <a:ea typeface="Calibri"/>
                <a:cs typeface="Calibri"/>
                <a:sym typeface="Calibri"/>
              </a:rPr>
              <a:t>Esempi visti:</a:t>
            </a:r>
            <a:endParaRPr/>
          </a:p>
          <a:p>
            <a:pPr indent="0" lvl="0" marL="0" marR="0" rtl="0" algn="l">
              <a:spcBef>
                <a:spcPts val="0"/>
              </a:spcBef>
              <a:spcAft>
                <a:spcPts val="0"/>
              </a:spcAft>
              <a:buNone/>
            </a:pPr>
            <a:r>
              <a:rPr lang="it-IT" sz="1800">
                <a:solidFill>
                  <a:schemeClr val="dk1"/>
                </a:solidFill>
                <a:latin typeface="Calibri"/>
                <a:ea typeface="Calibri"/>
                <a:cs typeface="Calibri"/>
                <a:sym typeface="Calibri"/>
              </a:rPr>
              <a:t>equazione della corda vibrante illimitata: si riconduce l’equazione a una di cui si vede immediatamente l'integrale generale. Funziona anche per l’equazione lineare del trasporto, più in generale per equazioni (del secondo’ordine) </a:t>
            </a:r>
            <a:r>
              <a:rPr i="1" lang="it-IT" sz="1800">
                <a:solidFill>
                  <a:schemeClr val="dk1"/>
                </a:solidFill>
                <a:latin typeface="Calibri"/>
                <a:ea typeface="Calibri"/>
                <a:cs typeface="Calibri"/>
                <a:sym typeface="Calibri"/>
              </a:rPr>
              <a:t>di tipo iperbolico</a:t>
            </a:r>
            <a:r>
              <a:rPr lang="it-IT"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anim calcmode="lin" valueType="num">
                                      <p:cBhvr additive="base">
                                        <p:cTn dur="500"/>
                                        <p:tgtEl>
                                          <p:spTgt spid="106">
                                            <p:txEl>
                                              <p:pRg end="0" st="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anim calcmode="lin" valueType="num">
                                      <p:cBhvr additive="base">
                                        <p:cTn dur="500"/>
                                        <p:tgtEl>
                                          <p:spTgt spid="106">
                                            <p:txEl>
                                              <p:pRg end="1" st="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anim calcmode="lin" valueType="num">
                                      <p:cBhvr additive="base">
                                        <p:cTn dur="500"/>
                                        <p:tgtEl>
                                          <p:spTgt spid="106">
                                            <p:txEl>
                                              <p:pRg end="2" st="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anim calcmode="lin" valueType="num">
                                      <p:cBhvr additive="base">
                                        <p:cTn dur="500"/>
                                        <p:tgtEl>
                                          <p:spTgt spid="10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anim calcmode="lin" valueType="num">
                                      <p:cBhvr additive="base">
                                        <p:cTn dur="500"/>
                                        <p:tgtEl>
                                          <p:spTgt spid="106">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5" st="5"/>
                                            </p:txEl>
                                          </p:spTgt>
                                        </p:tgtEl>
                                        <p:attrNameLst>
                                          <p:attrName>style.visibility</p:attrName>
                                        </p:attrNameLst>
                                      </p:cBhvr>
                                      <p:to>
                                        <p:strVal val="visible"/>
                                      </p:to>
                                    </p:set>
                                    <p:anim calcmode="lin" valueType="num">
                                      <p:cBhvr additive="base">
                                        <p:cTn dur="500"/>
                                        <p:tgtEl>
                                          <p:spTgt spid="10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6" st="6"/>
                                            </p:txEl>
                                          </p:spTgt>
                                        </p:tgtEl>
                                        <p:attrNameLst>
                                          <p:attrName>style.visibility</p:attrName>
                                        </p:attrNameLst>
                                      </p:cBhvr>
                                      <p:to>
                                        <p:strVal val="visible"/>
                                      </p:to>
                                    </p:set>
                                    <p:anim calcmode="lin" valueType="num">
                                      <p:cBhvr additive="base">
                                        <p:cTn dur="500"/>
                                        <p:tgtEl>
                                          <p:spTgt spid="106">
                                            <p:txEl>
                                              <p:pRg end="6" st="6"/>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7" st="7"/>
                                            </p:txEl>
                                          </p:spTgt>
                                        </p:tgtEl>
                                        <p:attrNameLst>
                                          <p:attrName>style.visibility</p:attrName>
                                        </p:attrNameLst>
                                      </p:cBhvr>
                                      <p:to>
                                        <p:strVal val="visible"/>
                                      </p:to>
                                    </p:set>
                                    <p:anim calcmode="lin" valueType="num">
                                      <p:cBhvr additive="base">
                                        <p:cTn dur="500"/>
                                        <p:tgtEl>
                                          <p:spTgt spid="106">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8" st="8"/>
                                            </p:txEl>
                                          </p:spTgt>
                                        </p:tgtEl>
                                        <p:attrNameLst>
                                          <p:attrName>style.visibility</p:attrName>
                                        </p:attrNameLst>
                                      </p:cBhvr>
                                      <p:to>
                                        <p:strVal val="visible"/>
                                      </p:to>
                                    </p:set>
                                    <p:anim calcmode="lin" valueType="num">
                                      <p:cBhvr additive="base">
                                        <p:cTn dur="500"/>
                                        <p:tgtEl>
                                          <p:spTgt spid="106">
                                            <p:txEl>
                                              <p:pRg end="8" st="8"/>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9" st="9"/>
                                            </p:txEl>
                                          </p:spTgt>
                                        </p:tgtEl>
                                        <p:attrNameLst>
                                          <p:attrName>style.visibility</p:attrName>
                                        </p:attrNameLst>
                                      </p:cBhvr>
                                      <p:to>
                                        <p:strVal val="visible"/>
                                      </p:to>
                                    </p:set>
                                    <p:anim calcmode="lin" valueType="num">
                                      <p:cBhvr additive="base">
                                        <p:cTn dur="500"/>
                                        <p:tgtEl>
                                          <p:spTgt spid="106">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10" st="10"/>
                                            </p:txEl>
                                          </p:spTgt>
                                        </p:tgtEl>
                                        <p:attrNameLst>
                                          <p:attrName>style.visibility</p:attrName>
                                        </p:attrNameLst>
                                      </p:cBhvr>
                                      <p:to>
                                        <p:strVal val="visible"/>
                                      </p:to>
                                    </p:set>
                                    <p:anim calcmode="lin" valueType="num">
                                      <p:cBhvr additive="base">
                                        <p:cTn dur="500"/>
                                        <p:tgtEl>
                                          <p:spTgt spid="106">
                                            <p:txEl>
                                              <p:pRg end="10" st="10"/>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11" st="11"/>
                                            </p:txEl>
                                          </p:spTgt>
                                        </p:tgtEl>
                                        <p:attrNameLst>
                                          <p:attrName>style.visibility</p:attrName>
                                        </p:attrNameLst>
                                      </p:cBhvr>
                                      <p:to>
                                        <p:strVal val="visible"/>
                                      </p:to>
                                    </p:set>
                                    <p:anim calcmode="lin" valueType="num">
                                      <p:cBhvr additive="base">
                                        <p:cTn dur="500"/>
                                        <p:tgtEl>
                                          <p:spTgt spid="106">
                                            <p:txEl>
                                              <p:pRg end="11" st="11"/>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12" st="12"/>
                                            </p:txEl>
                                          </p:spTgt>
                                        </p:tgtEl>
                                        <p:attrNameLst>
                                          <p:attrName>style.visibility</p:attrName>
                                        </p:attrNameLst>
                                      </p:cBhvr>
                                      <p:to>
                                        <p:strVal val="visible"/>
                                      </p:to>
                                    </p:set>
                                    <p:anim calcmode="lin" valueType="num">
                                      <p:cBhvr additive="base">
                                        <p:cTn dur="500"/>
                                        <p:tgtEl>
                                          <p:spTgt spid="106">
                                            <p:txEl>
                                              <p:pRg end="12" st="12"/>
                                            </p:txEl>
                                          </p:spTgt>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6">
                                            <p:txEl>
                                              <p:pRg end="13" st="13"/>
                                            </p:txEl>
                                          </p:spTgt>
                                        </p:tgtEl>
                                        <p:attrNameLst>
                                          <p:attrName>style.visibility</p:attrName>
                                        </p:attrNameLst>
                                      </p:cBhvr>
                                      <p:to>
                                        <p:strVal val="visible"/>
                                      </p:to>
                                    </p:set>
                                    <p:anim calcmode="lin" valueType="num">
                                      <p:cBhvr additive="base">
                                        <p:cTn dur="500"/>
                                        <p:tgtEl>
                                          <p:spTgt spid="106">
                                            <p:txEl>
                                              <p:pRg end="13" st="1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2022-03-18T13:37:11Z</dcterms:created>
  <dc:creator>user</dc:creator>
</cp:coreProperties>
</file>