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0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04232B-2999-4E9E-AE5D-9D1DE7108903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D8560-3B20-403D-8BE3-C285CC14362F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357049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B7F16-F71A-46F3-AE27-381AC3FEF18D}" type="datetimeFigureOut">
              <a:rPr lang="it-IT" smtClean="0"/>
              <a:pPr/>
              <a:t>23/03/2023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4F450-ADD5-4F11-80BD-5AF25B52A369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Concetti diversi di “soluzione” </a:t>
            </a:r>
            <a:br>
              <a:rPr lang="it-IT" dirty="0" smtClean="0"/>
            </a:br>
            <a:r>
              <a:rPr lang="it-IT" dirty="0" smtClean="0"/>
              <a:t>per un’EDP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104456"/>
          </a:xfrm>
        </p:spPr>
        <p:txBody>
          <a:bodyPr>
            <a:normAutofit/>
          </a:bodyPr>
          <a:lstStyle/>
          <a:p>
            <a:r>
              <a:rPr lang="it-IT" sz="2200" dirty="0" smtClean="0"/>
              <a:t>Il concetto di “soluzione” di un'equazione alle derivate parziali si evolve nella storia e dipende dalla classe di equazioni considerate. </a:t>
            </a:r>
          </a:p>
          <a:p>
            <a:r>
              <a:rPr lang="it-IT" sz="2200" dirty="0" smtClean="0"/>
              <a:t>Non ci sono solo nozioni </a:t>
            </a:r>
            <a:r>
              <a:rPr lang="it-IT" sz="2200" i="1" dirty="0" smtClean="0"/>
              <a:t>più o meno generali </a:t>
            </a:r>
            <a:r>
              <a:rPr lang="it-IT" sz="2200" dirty="0" smtClean="0"/>
              <a:t>di soluzione, l'applicabilità di un concetto di soluzione dipende anche dalle </a:t>
            </a:r>
            <a:r>
              <a:rPr lang="it-IT" sz="2200" i="1" dirty="0" smtClean="0"/>
              <a:t>ipotesi sui coefficienti</a:t>
            </a:r>
            <a:r>
              <a:rPr lang="it-IT" sz="2200" dirty="0" smtClean="0"/>
              <a:t>. </a:t>
            </a:r>
          </a:p>
          <a:p>
            <a:r>
              <a:rPr lang="it-IT" sz="2200" dirty="0" smtClean="0"/>
              <a:t>Vediamo una carrellata su alcuni concetti di soluzione che hanno ciascuno il proprio ambito di interesse e applicabilità nel contesto delle equazioni alle derivate parziali lineari.</a:t>
            </a:r>
          </a:p>
          <a:p>
            <a:r>
              <a:rPr lang="it-IT" sz="2200" dirty="0" smtClean="0"/>
              <a:t>Il discorso ci servirà anche per introdurre l’ultima parte del corso, che ha a che fare col concetto di soluzione debole in spazi di </a:t>
            </a:r>
            <a:r>
              <a:rPr lang="it-IT" sz="2200" dirty="0" err="1" smtClean="0"/>
              <a:t>Sobolev</a:t>
            </a:r>
            <a:r>
              <a:rPr lang="it-IT" sz="2200" dirty="0" smtClean="0"/>
              <a:t> </a:t>
            </a:r>
            <a:r>
              <a:rPr lang="it-IT" sz="2200" dirty="0" err="1" smtClean="0"/>
              <a:t>hilbertiani</a:t>
            </a:r>
            <a:r>
              <a:rPr lang="it-IT" sz="2200" dirty="0" smtClean="0"/>
              <a:t>.</a:t>
            </a:r>
          </a:p>
          <a:p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La ricerca di risultati generali per EDP</a:t>
            </a:r>
            <a:br>
              <a:rPr lang="it-IT" dirty="0" smtClean="0"/>
            </a:br>
            <a:r>
              <a:rPr lang="it-IT" sz="3600" dirty="0" smtClean="0"/>
              <a:t>La </a:t>
            </a:r>
            <a:r>
              <a:rPr lang="it-IT" sz="3600" dirty="0" smtClean="0"/>
              <a:t>teoria delle distribuzioni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412777"/>
            <a:ext cx="8784976" cy="3168352"/>
          </a:xfrm>
        </p:spPr>
        <p:txBody>
          <a:bodyPr>
            <a:noAutofit/>
          </a:bodyPr>
          <a:lstStyle/>
          <a:p>
            <a:r>
              <a:rPr lang="it-IT" sz="1800" dirty="0" smtClean="0"/>
              <a:t>Una </a:t>
            </a:r>
            <a:r>
              <a:rPr lang="it-IT" sz="1800" dirty="0" smtClean="0"/>
              <a:t>possibilità </a:t>
            </a:r>
            <a:r>
              <a:rPr lang="it-IT" sz="1800" dirty="0" smtClean="0"/>
              <a:t>di affronto unitario alle EDP lineari è offerta dalla </a:t>
            </a:r>
            <a:r>
              <a:rPr lang="it-IT" sz="1800" b="1" dirty="0" smtClean="0"/>
              <a:t>teoria delle distribuzioni (</a:t>
            </a:r>
            <a:r>
              <a:rPr lang="it-IT" sz="1800" b="1" dirty="0" err="1" smtClean="0"/>
              <a:t>Schwartz</a:t>
            </a:r>
            <a:r>
              <a:rPr lang="it-IT" sz="1800" b="1" dirty="0" smtClean="0"/>
              <a:t>, &gt;1950)</a:t>
            </a:r>
            <a:r>
              <a:rPr lang="it-IT" sz="1800" dirty="0" smtClean="0"/>
              <a:t>, limitatamente però alle equazioni a coefficienti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. </a:t>
            </a:r>
            <a:r>
              <a:rPr lang="it-IT" sz="1800" dirty="0" smtClean="0"/>
              <a:t>Ricordiamo </a:t>
            </a:r>
            <a:r>
              <a:rPr lang="it-IT" sz="1800" dirty="0" smtClean="0"/>
              <a:t>che: </a:t>
            </a:r>
          </a:p>
          <a:p>
            <a:r>
              <a:rPr lang="it-IT" sz="1800" dirty="0" smtClean="0"/>
              <a:t>1. Se </a:t>
            </a:r>
            <a:r>
              <a:rPr lang="el-GR" sz="1800" dirty="0" smtClean="0"/>
              <a:t>Ω </a:t>
            </a:r>
            <a:r>
              <a:rPr lang="it-IT" sz="1800" dirty="0" smtClean="0"/>
              <a:t>è un dominio di </a:t>
            </a:r>
            <a:r>
              <a:rPr lang="it-IT" sz="1800" dirty="0" err="1" smtClean="0"/>
              <a:t>R</a:t>
            </a:r>
            <a:r>
              <a:rPr lang="it-IT" sz="1800" baseline="30000" dirty="0" err="1" smtClean="0"/>
              <a:t>n</a:t>
            </a:r>
            <a:r>
              <a:rPr lang="it-IT" sz="1800" dirty="0" smtClean="0"/>
              <a:t>, ogni distribuzione T∈D′(</a:t>
            </a:r>
            <a:r>
              <a:rPr lang="el-GR" sz="1800" dirty="0" smtClean="0"/>
              <a:t>Ω)</a:t>
            </a:r>
            <a:r>
              <a:rPr lang="it-IT" sz="1800" dirty="0" smtClean="0"/>
              <a:t> è derivabile infinite volte;</a:t>
            </a:r>
          </a:p>
          <a:p>
            <a:r>
              <a:rPr lang="it-IT" sz="1800" dirty="0" smtClean="0"/>
              <a:t>2. Se T∈D′(</a:t>
            </a:r>
            <a:r>
              <a:rPr lang="el-GR" sz="1800" dirty="0" smtClean="0"/>
              <a:t>Ω)</a:t>
            </a:r>
            <a:r>
              <a:rPr lang="it-IT" sz="1800" dirty="0" smtClean="0"/>
              <a:t> e f ∈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(</a:t>
            </a:r>
            <a:r>
              <a:rPr lang="el-GR" sz="1800" dirty="0" smtClean="0"/>
              <a:t>Ω)</a:t>
            </a:r>
            <a:r>
              <a:rPr lang="it-IT" sz="1800" dirty="0" smtClean="0"/>
              <a:t> allora </a:t>
            </a:r>
            <a:r>
              <a:rPr lang="it-IT" sz="1800" dirty="0" err="1" smtClean="0"/>
              <a:t>fT</a:t>
            </a:r>
            <a:r>
              <a:rPr lang="it-IT" sz="1800" dirty="0" smtClean="0"/>
              <a:t> ∈D′(</a:t>
            </a:r>
            <a:r>
              <a:rPr lang="el-GR" sz="1800" dirty="0" smtClean="0"/>
              <a:t>Ω)</a:t>
            </a:r>
            <a:r>
              <a:rPr lang="it-IT" sz="1800" dirty="0" smtClean="0"/>
              <a:t>. (Mentre se f è meno regolare, il prodotto </a:t>
            </a:r>
            <a:r>
              <a:rPr lang="it-IT" sz="1800" dirty="0" err="1" smtClean="0"/>
              <a:t>fT</a:t>
            </a:r>
            <a:r>
              <a:rPr lang="it-IT" sz="1800" dirty="0" smtClean="0"/>
              <a:t> in generale non è definito).</a:t>
            </a:r>
          </a:p>
          <a:p>
            <a:r>
              <a:rPr lang="it-IT" sz="1800" dirty="0" smtClean="0"/>
              <a:t>Perciò </a:t>
            </a:r>
            <a:r>
              <a:rPr lang="it-IT" sz="1800" i="1" dirty="0" smtClean="0"/>
              <a:t>la teoria delle distribuzioni fornisce il quadro concettuale adatto allo studio delle EDP lineari, di qualunque ordine, a coefficienti reali o complessi infinitamente derivabili </a:t>
            </a:r>
            <a:r>
              <a:rPr lang="it-IT" sz="1800" dirty="0" smtClean="0"/>
              <a:t>(o, come caso particolare, coefficienti costanti).</a:t>
            </a:r>
          </a:p>
          <a:p>
            <a:r>
              <a:rPr lang="it-IT" sz="1800" dirty="0" smtClean="0"/>
              <a:t>Un operatore differenziale lineare in </a:t>
            </a:r>
            <a:r>
              <a:rPr lang="it-IT" sz="1800" i="1" dirty="0" smtClean="0"/>
              <a:t>n</a:t>
            </a:r>
            <a:r>
              <a:rPr lang="it-IT" sz="1800" dirty="0" smtClean="0"/>
              <a:t> variabili e di ordine </a:t>
            </a:r>
            <a:r>
              <a:rPr lang="it-IT" sz="1800" i="1" dirty="0" smtClean="0"/>
              <a:t>m</a:t>
            </a:r>
            <a:r>
              <a:rPr lang="it-IT" sz="1800" dirty="0" smtClean="0"/>
              <a:t>, si può scrivere nella forma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1880" y="4509120"/>
            <a:ext cx="24193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egnaposto contenuto 2"/>
          <p:cNvSpPr txBox="1">
            <a:spLocks/>
          </p:cNvSpPr>
          <p:nvPr/>
        </p:nvSpPr>
        <p:spPr>
          <a:xfrm>
            <a:off x="359024" y="5301208"/>
            <a:ext cx="8784976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it-IT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 i coefficienti</a:t>
            </a:r>
            <a:r>
              <a:rPr kumimoji="0" lang="it-IT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it-IT" sz="18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l-GR" sz="18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α</a:t>
            </a:r>
            <a:r>
              <a:rPr kumimoji="0" lang="it-IT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sono infinitamente derivabili in </a:t>
            </a:r>
            <a:r>
              <a:rPr lang="el-GR" dirty="0"/>
              <a:t>Ω</a:t>
            </a:r>
            <a:r>
              <a:rPr kumimoji="0" lang="it-IT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si può vedere L come operatore lineare:</a:t>
            </a: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5805264"/>
            <a:ext cx="26479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La ricerca di risultati generali per EDP</a:t>
            </a:r>
            <a:br>
              <a:rPr lang="it-IT" dirty="0" smtClean="0"/>
            </a:br>
            <a:r>
              <a:rPr lang="it-IT" sz="3600" dirty="0" smtClean="0"/>
              <a:t>La </a:t>
            </a:r>
            <a:r>
              <a:rPr lang="it-IT" sz="3600" dirty="0" smtClean="0"/>
              <a:t>teoria delle distribuzioni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412777"/>
            <a:ext cx="8784976" cy="3312368"/>
          </a:xfrm>
        </p:spPr>
        <p:txBody>
          <a:bodyPr>
            <a:noAutofit/>
          </a:bodyPr>
          <a:lstStyle/>
          <a:p>
            <a:endParaRPr lang="it-IT" sz="1800" dirty="0" smtClean="0"/>
          </a:p>
          <a:p>
            <a:r>
              <a:rPr lang="it-IT" sz="1800" dirty="0" smtClean="0"/>
              <a:t>Riguardo a questi operatori differenziali, ci sono due problemi molto generali che è naturale porsi:    </a:t>
            </a:r>
          </a:p>
          <a:p>
            <a:r>
              <a:rPr lang="it-IT" sz="1800" dirty="0" smtClean="0"/>
              <a:t>1. La </a:t>
            </a:r>
            <a:r>
              <a:rPr lang="it-IT" sz="1800" b="1" dirty="0" smtClean="0"/>
              <a:t>risolubilità </a:t>
            </a:r>
            <a:r>
              <a:rPr lang="it-IT" sz="1800" dirty="0" smtClean="0"/>
              <a:t>di un operatore differenziale </a:t>
            </a:r>
            <a:r>
              <a:rPr lang="it-IT" sz="1800" i="1" dirty="0" smtClean="0"/>
              <a:t>L</a:t>
            </a:r>
            <a:r>
              <a:rPr lang="it-IT" sz="1800" dirty="0" smtClean="0"/>
              <a:t>: si può affermare che per ogni termine noto </a:t>
            </a:r>
            <a:r>
              <a:rPr lang="it-IT" sz="1800" i="1" dirty="0" smtClean="0"/>
              <a:t>T</a:t>
            </a:r>
            <a:r>
              <a:rPr lang="it-IT" sz="1800" dirty="0" smtClean="0"/>
              <a:t>∈D′(Ω) (soddisfacente eventuali ulteriori ipotesi) l’equazione </a:t>
            </a:r>
            <a:r>
              <a:rPr lang="it-IT" sz="1800" i="1" dirty="0" err="1" smtClean="0"/>
              <a:t>Lu</a:t>
            </a:r>
            <a:r>
              <a:rPr lang="it-IT" sz="1800" dirty="0" err="1" smtClean="0"/>
              <a:t>=</a:t>
            </a:r>
            <a:r>
              <a:rPr lang="it-IT" sz="1800" i="1" dirty="0" err="1" smtClean="0"/>
              <a:t>T</a:t>
            </a:r>
            <a:r>
              <a:rPr lang="it-IT" sz="1800" dirty="0" smtClean="0"/>
              <a:t> in D′(Ω) ha almeno una soluzione u∈D′(Ω)?    </a:t>
            </a:r>
          </a:p>
          <a:p>
            <a:r>
              <a:rPr lang="it-IT" sz="1800" dirty="0" smtClean="0"/>
              <a:t>2. La </a:t>
            </a:r>
            <a:r>
              <a:rPr lang="it-IT" sz="1800" b="1" dirty="0" smtClean="0"/>
              <a:t>regolarità</a:t>
            </a:r>
            <a:r>
              <a:rPr lang="it-IT" sz="1800" dirty="0" smtClean="0"/>
              <a:t> delle soluzioni: si può affermare che per ogni soluzione u∈D′(Ω) dell’equazione </a:t>
            </a:r>
            <a:r>
              <a:rPr lang="it-IT" sz="1800" i="1" dirty="0" err="1" smtClean="0"/>
              <a:t>Lu=T</a:t>
            </a:r>
            <a:r>
              <a:rPr lang="it-IT" sz="1800" dirty="0" smtClean="0"/>
              <a:t> in D′(Ω), se </a:t>
            </a:r>
            <a:r>
              <a:rPr lang="it-IT" sz="1800" i="1" dirty="0" smtClean="0"/>
              <a:t>T</a:t>
            </a:r>
            <a:r>
              <a:rPr lang="it-IT" sz="1800" dirty="0" smtClean="0"/>
              <a:t> è regolare, ad esempio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(Ω), anche u∈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(Ω)?</a:t>
            </a:r>
          </a:p>
          <a:p>
            <a:r>
              <a:rPr lang="it-IT" sz="1800" dirty="0" smtClean="0"/>
              <a:t>Questi due problemi sono meglio precisati dai concetti che introduciamo nelle prossime due definizioni.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La ricerca di risultati generali per EDP</a:t>
            </a:r>
            <a:br>
              <a:rPr lang="it-IT" dirty="0" smtClean="0"/>
            </a:br>
            <a:r>
              <a:rPr lang="it-IT" sz="3600" dirty="0" smtClean="0"/>
              <a:t>La </a:t>
            </a:r>
            <a:r>
              <a:rPr lang="it-IT" sz="3600" dirty="0" smtClean="0"/>
              <a:t>teoria delle distribuzioni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412777"/>
            <a:ext cx="8784976" cy="5256584"/>
          </a:xfrm>
        </p:spPr>
        <p:txBody>
          <a:bodyPr>
            <a:noAutofit/>
          </a:bodyPr>
          <a:lstStyle/>
          <a:p>
            <a:r>
              <a:rPr lang="it-IT" sz="1800" b="1" dirty="0" smtClean="0"/>
              <a:t>Definizione.</a:t>
            </a:r>
            <a:r>
              <a:rPr lang="it-IT" sz="1800" dirty="0" smtClean="0"/>
              <a:t> Un operatore differenziale lineare </a:t>
            </a:r>
            <a:r>
              <a:rPr lang="it-IT" sz="1800" i="1" dirty="0" smtClean="0"/>
              <a:t>L</a:t>
            </a:r>
            <a:r>
              <a:rPr lang="it-IT" sz="1800" dirty="0" smtClean="0"/>
              <a:t> a coefficienti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(Ω) si dice </a:t>
            </a:r>
            <a:r>
              <a:rPr lang="it-IT" sz="1800" b="1" i="1" dirty="0" smtClean="0"/>
              <a:t>localmente risolubile </a:t>
            </a:r>
            <a:r>
              <a:rPr lang="it-IT" sz="1800" dirty="0" smtClean="0"/>
              <a:t>se per ogni punto x₀∈ Ω esiste un intorno U(x₀) tale che per ogni f∈D(U(x₀)) esiste u∈D′(U(x₀)) soluzione di </a:t>
            </a:r>
            <a:r>
              <a:rPr lang="it-IT" sz="1800" i="1" dirty="0" smtClean="0"/>
              <a:t>Lu=f </a:t>
            </a:r>
            <a:r>
              <a:rPr lang="it-IT" sz="1800" dirty="0" smtClean="0"/>
              <a:t>in D′(U(x₀)).</a:t>
            </a:r>
          </a:p>
          <a:p>
            <a:r>
              <a:rPr lang="it-IT" sz="1800" b="1" dirty="0" smtClean="0"/>
              <a:t>Definizione.</a:t>
            </a:r>
            <a:r>
              <a:rPr lang="it-IT" sz="1800" dirty="0" smtClean="0"/>
              <a:t> Un operatore differenziale lineare </a:t>
            </a:r>
            <a:r>
              <a:rPr lang="it-IT" sz="1800" i="1" dirty="0" smtClean="0"/>
              <a:t>L</a:t>
            </a:r>
            <a:r>
              <a:rPr lang="it-IT" sz="1800" dirty="0" smtClean="0"/>
              <a:t> a coefficienti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(Ω) si dice </a:t>
            </a:r>
            <a:r>
              <a:rPr lang="it-IT" sz="1800" b="1" i="1" dirty="0" smtClean="0"/>
              <a:t>ipoellittico</a:t>
            </a:r>
            <a:r>
              <a:rPr lang="it-IT" sz="1800" dirty="0" smtClean="0"/>
              <a:t> in Ω se per ogni soluzione u∈D′(Ω) dell'equazione </a:t>
            </a:r>
            <a:r>
              <a:rPr lang="it-IT" sz="1800" i="1" dirty="0" smtClean="0"/>
              <a:t>Lu=T </a:t>
            </a:r>
            <a:r>
              <a:rPr lang="it-IT" sz="1800" dirty="0" smtClean="0"/>
              <a:t>in D′(Ω), se per un certo aperto A⊂Ω è T∈ C</a:t>
            </a:r>
            <a:r>
              <a:rPr lang="it-IT" sz="1800" baseline="30000" dirty="0" smtClean="0"/>
              <a:t>∞ </a:t>
            </a:r>
            <a:r>
              <a:rPr lang="it-IT" sz="1800" dirty="0" smtClean="0"/>
              <a:t>(A), allora anche u∈C</a:t>
            </a:r>
            <a:r>
              <a:rPr lang="it-IT" sz="1800" baseline="30000" dirty="0" smtClean="0"/>
              <a:t>∞ </a:t>
            </a:r>
            <a:r>
              <a:rPr lang="it-IT" sz="1800" dirty="0" smtClean="0"/>
              <a:t>(A). </a:t>
            </a:r>
          </a:p>
          <a:p>
            <a:r>
              <a:rPr lang="it-IT" sz="1800" dirty="0" smtClean="0"/>
              <a:t>Detto a parole: ogni soluzione distribuzionale dell'equazione è regolare negli aperti in cui il termine noto è regolare. </a:t>
            </a:r>
          </a:p>
          <a:p>
            <a:r>
              <a:rPr lang="it-IT" sz="1800" dirty="0" smtClean="0"/>
              <a:t>In particolare, se </a:t>
            </a:r>
            <a:r>
              <a:rPr lang="it-IT" sz="1800" i="1" dirty="0" smtClean="0"/>
              <a:t>L</a:t>
            </a:r>
            <a:r>
              <a:rPr lang="it-IT" sz="1800" dirty="0" smtClean="0"/>
              <a:t> è ipoellittico, ogni distribuzione che risolve l'equazione omogenea </a:t>
            </a:r>
            <a:r>
              <a:rPr lang="it-IT" sz="1800" i="1" dirty="0" smtClean="0"/>
              <a:t>Lu=0</a:t>
            </a:r>
            <a:r>
              <a:rPr lang="it-IT" sz="1800" dirty="0" smtClean="0"/>
              <a:t> in un aperto Ω è in realtà una funzione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(Ω)!</a:t>
            </a:r>
          </a:p>
          <a:p>
            <a:r>
              <a:rPr lang="it-IT" sz="1800" dirty="0" smtClean="0"/>
              <a:t>Il problema di dare delle condizioni sufficienti (o meglio ancora necessarie e sufficienti) affinché un operatore sia localmente risolubile oppure ipoellittico è un problema molto difficile e vasto, nella sua generalità. </a:t>
            </a:r>
          </a:p>
          <a:p>
            <a:r>
              <a:rPr lang="it-IT" sz="1800" dirty="0" smtClean="0"/>
              <a:t>Risposte soddisfacenti si trovano delimitando più strettamente la classe di operatori differenziali che si considerano.</a:t>
            </a:r>
          </a:p>
          <a:p>
            <a:r>
              <a:rPr lang="it-IT" sz="1800" dirty="0" smtClean="0"/>
              <a:t>Diamo qualche cenno riguardo a questi problemi nel caso particolare degli </a:t>
            </a:r>
            <a:r>
              <a:rPr lang="it-IT" sz="1800" i="1" dirty="0" smtClean="0"/>
              <a:t>operatori a coefficienti costanti</a:t>
            </a:r>
            <a:r>
              <a:rPr lang="it-IT" sz="1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La ricerca di risultati generali per EDP</a:t>
            </a:r>
            <a:br>
              <a:rPr lang="it-IT" dirty="0" smtClean="0"/>
            </a:br>
            <a:r>
              <a:rPr lang="it-IT" sz="3600" dirty="0" smtClean="0"/>
              <a:t>La </a:t>
            </a:r>
            <a:r>
              <a:rPr lang="it-IT" sz="3600" dirty="0" smtClean="0"/>
              <a:t>teoria delle distribuzioni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412777"/>
            <a:ext cx="8784976" cy="864095"/>
          </a:xfrm>
        </p:spPr>
        <p:txBody>
          <a:bodyPr>
            <a:noAutofit/>
          </a:bodyPr>
          <a:lstStyle/>
          <a:p>
            <a:r>
              <a:rPr lang="it-IT" sz="1800" dirty="0" smtClean="0"/>
              <a:t>Consideriamo quindi ora un operatore differenziale lineare in n variabili e di ordine m, a coefficienti costanti (reali o complessi):</a:t>
            </a:r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79512" y="285293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In </a:t>
            </a:r>
            <a:r>
              <a:rPr lang="it-IT" dirty="0"/>
              <a:t>questo contesto, un concetto importante è quello di </a:t>
            </a:r>
            <a:r>
              <a:rPr lang="it-IT" b="1" i="1" dirty="0"/>
              <a:t>soluzione fondamentale</a:t>
            </a:r>
            <a:r>
              <a:rPr lang="it-IT" dirty="0" smtClean="0"/>
              <a:t>: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b="1" dirty="0"/>
              <a:t>Definizione.</a:t>
            </a:r>
            <a:r>
              <a:rPr lang="it-IT" dirty="0"/>
              <a:t> Se L è un operatore </a:t>
            </a:r>
            <a:r>
              <a:rPr lang="it-IT" dirty="0" smtClean="0"/>
              <a:t>come </a:t>
            </a:r>
            <a:r>
              <a:rPr lang="it-IT" dirty="0"/>
              <a:t>sopra, si dice </a:t>
            </a:r>
            <a:r>
              <a:rPr lang="it-IT" i="1" dirty="0"/>
              <a:t>soluzione fondamentale </a:t>
            </a:r>
            <a:r>
              <a:rPr lang="it-IT" dirty="0"/>
              <a:t>per </a:t>
            </a:r>
            <a:r>
              <a:rPr lang="it-IT" i="1" dirty="0"/>
              <a:t>L</a:t>
            </a:r>
            <a:r>
              <a:rPr lang="it-IT" dirty="0"/>
              <a:t> una distribuzione Γ∈D′(</a:t>
            </a:r>
            <a:r>
              <a:rPr lang="it-IT" dirty="0" err="1"/>
              <a:t>Rⁿ</a:t>
            </a:r>
            <a:r>
              <a:rPr lang="it-IT" dirty="0"/>
              <a:t>) che risolve</a:t>
            </a: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2060848"/>
            <a:ext cx="196215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3789040"/>
            <a:ext cx="23241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egnaposto contenuto 2"/>
          <p:cNvSpPr txBox="1">
            <a:spLocks/>
          </p:cNvSpPr>
          <p:nvPr/>
        </p:nvSpPr>
        <p:spPr>
          <a:xfrm>
            <a:off x="179512" y="429309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La soluzione fondamentale Γ, se esiste, non è in generale unica, perché se u è una soluzione di Lu=0, sarà L(</a:t>
            </a:r>
            <a:r>
              <a:rPr lang="it-IT" dirty="0" err="1" smtClean="0"/>
              <a:t>Γ+u</a:t>
            </a:r>
            <a:r>
              <a:rPr lang="it-IT" dirty="0" smtClean="0"/>
              <a:t>)</a:t>
            </a:r>
            <a:r>
              <a:rPr lang="it-IT" dirty="0" err="1" smtClean="0"/>
              <a:t>=δ</a:t>
            </a:r>
            <a:r>
              <a:rPr lang="it-IT" dirty="0" smtClean="0"/>
              <a:t> e quindi anche </a:t>
            </a:r>
            <a:r>
              <a:rPr lang="it-IT" dirty="0" err="1" smtClean="0"/>
              <a:t>Γ+u</a:t>
            </a:r>
            <a:r>
              <a:rPr lang="it-IT" dirty="0" smtClean="0"/>
              <a:t> è una soluzione fondamentale.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/>
              <a:t>L'interesse per le soluzioni fondamentali sta nel fatto che se f∈D(</a:t>
            </a:r>
            <a:r>
              <a:rPr lang="it-IT" dirty="0" err="1"/>
              <a:t>Rⁿ</a:t>
            </a:r>
            <a:r>
              <a:rPr lang="it-IT" dirty="0"/>
              <a:t>) allora </a:t>
            </a:r>
            <a:r>
              <a:rPr lang="it-IT" dirty="0" err="1"/>
              <a:t>Γ∗f</a:t>
            </a:r>
            <a:r>
              <a:rPr lang="it-IT" dirty="0"/>
              <a:t> è ben definita come distribuzione, e soddisfa, per le proprietà della </a:t>
            </a:r>
            <a:r>
              <a:rPr lang="it-IT" dirty="0" err="1"/>
              <a:t>convoluzione</a:t>
            </a:r>
            <a:r>
              <a:rPr lang="it-IT" dirty="0"/>
              <a:t>,</a:t>
            </a: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5589240"/>
            <a:ext cx="3724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egnaposto contenuto 2"/>
          <p:cNvSpPr txBox="1">
            <a:spLocks/>
          </p:cNvSpPr>
          <p:nvPr/>
        </p:nvSpPr>
        <p:spPr>
          <a:xfrm>
            <a:off x="251520" y="6165304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perciò la distribuzione u=Γ∗f risolve l'equazione </a:t>
            </a:r>
            <a:r>
              <a:rPr lang="it-IT" dirty="0" err="1" smtClean="0"/>
              <a:t>Lu=f</a:t>
            </a:r>
            <a:r>
              <a:rPr lang="it-IT" dirty="0" smtClean="0"/>
              <a:t>. In particolare, </a:t>
            </a:r>
            <a:r>
              <a:rPr lang="it-IT" i="1" dirty="0" smtClean="0"/>
              <a:t>se l'operatore ammette una soluzione fondamentale, allora è risolubile</a:t>
            </a:r>
            <a:r>
              <a:rPr lang="it-IT" dirty="0" smtClean="0"/>
              <a:t>.</a:t>
            </a: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7" grpId="0" build="p"/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La ricerca di risultati generali per EDP</a:t>
            </a:r>
            <a:br>
              <a:rPr lang="it-IT" dirty="0" smtClean="0"/>
            </a:br>
            <a:r>
              <a:rPr lang="it-IT" sz="3600" dirty="0" smtClean="0"/>
              <a:t>La </a:t>
            </a:r>
            <a:r>
              <a:rPr lang="it-IT" sz="3600" dirty="0" smtClean="0"/>
              <a:t>teoria delle distribuzioni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196752"/>
            <a:ext cx="8964488" cy="864095"/>
          </a:xfrm>
        </p:spPr>
        <p:txBody>
          <a:bodyPr>
            <a:noAutofit/>
          </a:bodyPr>
          <a:lstStyle/>
          <a:p>
            <a:r>
              <a:rPr lang="it-IT" sz="1800" dirty="0" smtClean="0"/>
              <a:t>Perciò è importante il seguente risultato </a:t>
            </a:r>
            <a:r>
              <a:rPr lang="it-IT" sz="1800" smtClean="0"/>
              <a:t>(tra </a:t>
            </a:r>
            <a:r>
              <a:rPr lang="it-IT" sz="1800" dirty="0" smtClean="0"/>
              <a:t>i primi successi della teoria delle distribuzioni:</a:t>
            </a:r>
            <a:endParaRPr lang="it-IT" sz="1800" b="1" dirty="0" smtClean="0"/>
          </a:p>
          <a:p>
            <a:r>
              <a:rPr lang="it-IT" sz="1800" b="1" dirty="0" smtClean="0"/>
              <a:t>Teorema di </a:t>
            </a:r>
            <a:r>
              <a:rPr lang="it-IT" sz="1800" b="1" dirty="0" err="1" smtClean="0"/>
              <a:t>Malgrange-Ehrenpreis</a:t>
            </a:r>
            <a:r>
              <a:rPr lang="it-IT" sz="1800" b="1" dirty="0" smtClean="0"/>
              <a:t> (1954-1956). </a:t>
            </a:r>
            <a:r>
              <a:rPr lang="it-IT" sz="1800" dirty="0" smtClean="0"/>
              <a:t>Ogni operatore differenziale lineare </a:t>
            </a:r>
            <a:r>
              <a:rPr lang="it-IT" sz="1800" i="1" dirty="0" smtClean="0"/>
              <a:t>L</a:t>
            </a:r>
            <a:r>
              <a:rPr lang="it-IT" sz="1800" dirty="0" smtClean="0"/>
              <a:t> a coefficienti costanti ha una soluzione fondamentale, perciò è risolubile.</a:t>
            </a:r>
          </a:p>
          <a:p>
            <a:r>
              <a:rPr lang="it-IT" sz="1800" dirty="0" smtClean="0"/>
              <a:t>Abbiamo determinato in precedenza le soluzioni fondamentali dell'equazione di Laplace e del calore (in qualsiasi dimensione n), e delle onde (in dimensione n=1,2,3).</a:t>
            </a:r>
          </a:p>
          <a:p>
            <a:r>
              <a:rPr lang="it-IT" sz="1800" dirty="0" smtClean="0"/>
              <a:t>Riguardo al problema della regolarità (cioè l'ipoellitticità dell'operatore) vale il seguente:</a:t>
            </a:r>
          </a:p>
          <a:p>
            <a:r>
              <a:rPr lang="it-IT" sz="1800" b="1" dirty="0" smtClean="0"/>
              <a:t>Teorema.</a:t>
            </a:r>
            <a:r>
              <a:rPr lang="it-IT" sz="1800" dirty="0" smtClean="0"/>
              <a:t> Un operatore differenziale lineare a coefficienti costanti è ipoellittico se e solo se possiede una soluzione fondamentale Γ∈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(</a:t>
            </a:r>
            <a:r>
              <a:rPr lang="it-IT" sz="1800" dirty="0" err="1" smtClean="0"/>
              <a:t>Rⁿ∖</a:t>
            </a:r>
            <a:r>
              <a:rPr lang="it-IT" sz="1800" dirty="0" smtClean="0"/>
              <a:t>{0}).</a:t>
            </a:r>
          </a:p>
          <a:p>
            <a:r>
              <a:rPr lang="it-IT" sz="1800" dirty="0" smtClean="0"/>
              <a:t>Si osservi che le soluzioni fondamentali che abbiamo determinato per gli operatori di Laplace e del calore sono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(</a:t>
            </a:r>
            <a:r>
              <a:rPr lang="it-IT" sz="1800" dirty="0" err="1" smtClean="0"/>
              <a:t>Rⁿ∖</a:t>
            </a:r>
            <a:r>
              <a:rPr lang="it-IT" sz="1800" dirty="0" smtClean="0"/>
              <a:t>{0}), perciò questi operatori sono ipoellittici. </a:t>
            </a:r>
          </a:p>
          <a:p>
            <a:r>
              <a:rPr lang="it-IT" sz="1800" dirty="0" smtClean="0"/>
              <a:t>Non è ipoellittico invece l’operatore delle onde, per il quale ad esempio:</a:t>
            </a:r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79512" y="285293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" name="Gruppo 11"/>
          <p:cNvGrpSpPr/>
          <p:nvPr/>
        </p:nvGrpSpPr>
        <p:grpSpPr>
          <a:xfrm>
            <a:off x="323528" y="4581128"/>
            <a:ext cx="8663549" cy="981075"/>
            <a:chOff x="323528" y="5661248"/>
            <a:chExt cx="8663549" cy="98107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3528" y="5661248"/>
              <a:ext cx="5667375" cy="981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CasellaDiTesto 10"/>
            <p:cNvSpPr txBox="1"/>
            <p:nvPr/>
          </p:nvSpPr>
          <p:spPr>
            <a:xfrm>
              <a:off x="6012160" y="5949280"/>
              <a:ext cx="29749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smtClean="0"/>
                <a:t>con u(x) gradino di </a:t>
              </a:r>
              <a:r>
                <a:rPr lang="it-IT" dirty="0" err="1" smtClean="0"/>
                <a:t>Heaviside</a:t>
              </a:r>
              <a:r>
                <a:rPr lang="it-IT" dirty="0" smtClean="0"/>
                <a:t>.</a:t>
              </a:r>
              <a:endParaRPr lang="it-IT" dirty="0"/>
            </a:p>
          </p:txBody>
        </p:sp>
      </p:grpSp>
      <p:sp>
        <p:nvSpPr>
          <p:cNvPr id="13" name="Segnaposto contenuto 2"/>
          <p:cNvSpPr txBox="1">
            <a:spLocks/>
          </p:cNvSpPr>
          <p:nvPr/>
        </p:nvSpPr>
        <p:spPr>
          <a:xfrm>
            <a:off x="0" y="5589240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/>
              <a:t>la teoria delle distribuzioni permette di considerare soluzioni distribuzionali, quindi </a:t>
            </a:r>
            <a:r>
              <a:rPr lang="it-IT" dirty="0" smtClean="0"/>
              <a:t>anche </a:t>
            </a:r>
            <a:r>
              <a:rPr lang="it-IT" dirty="0"/>
              <a:t>molto poco regolari, addirittura non rappresentate da </a:t>
            </a:r>
            <a:r>
              <a:rPr lang="it-IT" dirty="0" smtClean="0"/>
              <a:t>funzioni, </a:t>
            </a:r>
            <a:r>
              <a:rPr lang="it-IT" dirty="0"/>
              <a:t>purché però </a:t>
            </a:r>
            <a:r>
              <a:rPr lang="it-IT" i="1" dirty="0" smtClean="0"/>
              <a:t>l’equazione </a:t>
            </a:r>
            <a:r>
              <a:rPr lang="it-IT" i="1" dirty="0"/>
              <a:t>abbia coefficienti estremamente regolari</a:t>
            </a:r>
            <a:r>
              <a:rPr lang="it-IT" dirty="0"/>
              <a:t>. </a:t>
            </a:r>
            <a:endParaRPr lang="it-IT" dirty="0" smtClean="0"/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Perciò anche questa teoria non è </a:t>
            </a:r>
            <a:r>
              <a:rPr lang="it-IT" dirty="0" err="1" smtClean="0"/>
              <a:t>sufficiente…</a:t>
            </a: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424936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Risultati per EDP ellittiche del 2° ordine</a:t>
            </a:r>
            <a:br>
              <a:rPr lang="it-IT" dirty="0" smtClean="0"/>
            </a:br>
            <a:r>
              <a:rPr lang="it-IT" sz="3600" dirty="0" smtClean="0"/>
              <a:t>1. Soluzioni classiche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412777"/>
            <a:ext cx="8784976" cy="864095"/>
          </a:xfrm>
        </p:spPr>
        <p:txBody>
          <a:bodyPr>
            <a:noAutofit/>
          </a:bodyPr>
          <a:lstStyle/>
          <a:p>
            <a:r>
              <a:rPr lang="it-IT" sz="1800" dirty="0" smtClean="0"/>
              <a:t>Concentriamoci d’ora in poi sulle equazioni lineari del 2° ordine </a:t>
            </a:r>
            <a:r>
              <a:rPr lang="it-IT" sz="1800" i="1" dirty="0" smtClean="0"/>
              <a:t>uniformemente ellittiche</a:t>
            </a:r>
            <a:r>
              <a:rPr lang="it-IT" sz="1800" dirty="0" smtClean="0"/>
              <a:t>, a coefficienti variabili ma non necessariamente C</a:t>
            </a:r>
            <a:r>
              <a:rPr lang="it-IT" sz="1800" baseline="30000" dirty="0" smtClean="0"/>
              <a:t>∞</a:t>
            </a:r>
            <a:r>
              <a:rPr lang="it-IT" sz="1800" dirty="0" smtClean="0"/>
              <a:t>, e diamo un’idea dei vari concetti di soluzione, e le corrispondenti teorie che sono state sviluppate.</a:t>
            </a:r>
          </a:p>
          <a:p>
            <a:r>
              <a:rPr lang="it-IT" sz="1800" dirty="0" smtClean="0"/>
              <a:t>Si dice che </a:t>
            </a:r>
            <a:r>
              <a:rPr lang="it-IT" sz="1800" i="1" dirty="0" smtClean="0"/>
              <a:t>u</a:t>
            </a:r>
            <a:r>
              <a:rPr lang="it-IT" sz="1800" dirty="0" smtClean="0"/>
              <a:t> è una </a:t>
            </a:r>
            <a:r>
              <a:rPr lang="it-IT" sz="1800" b="1" dirty="0" smtClean="0"/>
              <a:t>soluzione classica </a:t>
            </a:r>
            <a:r>
              <a:rPr lang="it-IT" sz="1800" dirty="0" smtClean="0"/>
              <a:t>di un’equazione differenziale </a:t>
            </a:r>
            <a:r>
              <a:rPr lang="it-IT" sz="1800" i="1" dirty="0" err="1" smtClean="0"/>
              <a:t>Lu=f</a:t>
            </a:r>
            <a:r>
              <a:rPr lang="it-IT" sz="1800" dirty="0" smtClean="0"/>
              <a:t> se </a:t>
            </a:r>
            <a:r>
              <a:rPr lang="it-IT" sz="1800" i="1" dirty="0" smtClean="0"/>
              <a:t>u</a:t>
            </a:r>
            <a:r>
              <a:rPr lang="it-IT" sz="1800" dirty="0" smtClean="0"/>
              <a:t> possiede in ogni punto del dominio tutte le derivate che sono coinvolte nell'equazione, e l'uguaglianza </a:t>
            </a:r>
            <a:r>
              <a:rPr lang="it-IT" sz="1800" i="1" dirty="0" err="1" smtClean="0"/>
              <a:t>Lu=f</a:t>
            </a:r>
            <a:r>
              <a:rPr lang="it-IT" sz="1800" dirty="0" smtClean="0"/>
              <a:t> vale in tutti i punti del dominio. </a:t>
            </a:r>
          </a:p>
          <a:p>
            <a:r>
              <a:rPr lang="it-IT" sz="1800" dirty="0" smtClean="0"/>
              <a:t>Se l'equazione è del 2° ordine, questo significa richiedere che </a:t>
            </a:r>
            <a:r>
              <a:rPr lang="it-IT" sz="1800" i="1" dirty="0" smtClean="0"/>
              <a:t>u</a:t>
            </a:r>
            <a:r>
              <a:rPr lang="it-IT" sz="1800" dirty="0" smtClean="0"/>
              <a:t> sia almeno </a:t>
            </a:r>
            <a:r>
              <a:rPr lang="it-IT" sz="1800" dirty="0" err="1" smtClean="0"/>
              <a:t>C²</a:t>
            </a:r>
            <a:r>
              <a:rPr lang="it-IT" sz="1800" dirty="0" smtClean="0"/>
              <a:t>(Ω) e coefficienti e termine noto siano almeno continui. </a:t>
            </a:r>
          </a:p>
          <a:p>
            <a:r>
              <a:rPr lang="it-IT" sz="1800" dirty="0" smtClean="0"/>
              <a:t>In realtà, si scopre che richiedere la sola continuità di termine noto e coefficienti è troppo poco per avere soluzioni classiche: esistono esempi di funzioni f(x) continue in </a:t>
            </a:r>
            <a:r>
              <a:rPr lang="it-IT" sz="1800" dirty="0" err="1" smtClean="0"/>
              <a:t>Rⁿ</a:t>
            </a:r>
            <a:r>
              <a:rPr lang="it-IT" sz="1800" dirty="0" smtClean="0"/>
              <a:t> per cui l'equazione Δu=f non ha alcuna soluzione </a:t>
            </a:r>
            <a:r>
              <a:rPr lang="it-IT" sz="1800" dirty="0" err="1" smtClean="0"/>
              <a:t>C²</a:t>
            </a:r>
            <a:r>
              <a:rPr lang="it-IT" sz="1800" dirty="0" smtClean="0"/>
              <a:t>(</a:t>
            </a:r>
            <a:r>
              <a:rPr lang="it-IT" sz="1800" dirty="0" err="1" smtClean="0"/>
              <a:t>Rⁿ</a:t>
            </a:r>
            <a:r>
              <a:rPr lang="it-IT" sz="1800" dirty="0" smtClean="0"/>
              <a:t>). </a:t>
            </a:r>
          </a:p>
          <a:p>
            <a:r>
              <a:rPr lang="it-IT" sz="1800" dirty="0" smtClean="0"/>
              <a:t>Per avere una buona teoria classica </a:t>
            </a:r>
            <a:r>
              <a:rPr lang="it-IT" sz="1800" i="1" dirty="0" smtClean="0"/>
              <a:t>bisogna richiedere qualcosa di più della continuità</a:t>
            </a:r>
            <a:r>
              <a:rPr lang="it-IT" sz="1800" dirty="0" smtClean="0"/>
              <a:t>, o meglio una forma </a:t>
            </a:r>
            <a:r>
              <a:rPr lang="it-IT" sz="1800" i="1" dirty="0" smtClean="0"/>
              <a:t>quantitativa </a:t>
            </a:r>
            <a:r>
              <a:rPr lang="it-IT" sz="1800" dirty="0" smtClean="0"/>
              <a:t>di continuità. </a:t>
            </a:r>
          </a:p>
          <a:p>
            <a:r>
              <a:rPr lang="it-IT" sz="1800" dirty="0" smtClean="0"/>
              <a:t>Il concetto chiave è contenuto nella prossima definizione:</a:t>
            </a:r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79512" y="285293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424936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Risultati per EDP ellittiche del 2° ordine</a:t>
            </a:r>
            <a:br>
              <a:rPr lang="it-IT" dirty="0" smtClean="0"/>
            </a:br>
            <a:r>
              <a:rPr lang="it-IT" sz="3600" dirty="0" smtClean="0"/>
              <a:t>1. Soluzioni classiche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412777"/>
            <a:ext cx="8784976" cy="864095"/>
          </a:xfrm>
        </p:spPr>
        <p:txBody>
          <a:bodyPr>
            <a:noAutofit/>
          </a:bodyPr>
          <a:lstStyle/>
          <a:p>
            <a:r>
              <a:rPr lang="it-IT" sz="1800" b="1" dirty="0" smtClean="0"/>
              <a:t>Definizione. </a:t>
            </a:r>
            <a:r>
              <a:rPr lang="it-IT" sz="1800" dirty="0" smtClean="0"/>
              <a:t>Si dice che una funzione f:Ω→R è </a:t>
            </a:r>
            <a:r>
              <a:rPr lang="it-IT" sz="1800" i="1" dirty="0" err="1" smtClean="0"/>
              <a:t>Hölderiana</a:t>
            </a:r>
            <a:r>
              <a:rPr lang="it-IT" sz="1800" i="1" dirty="0" smtClean="0"/>
              <a:t> </a:t>
            </a:r>
            <a:r>
              <a:rPr lang="it-IT" sz="1800" dirty="0" smtClean="0"/>
              <a:t>di esponente α∈(0,1) se esiste c&gt;0 tale che</a:t>
            </a:r>
          </a:p>
          <a:p>
            <a:endParaRPr lang="it-IT" sz="1800" b="1" dirty="0" smtClean="0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79512" y="285293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060848"/>
            <a:ext cx="57150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egnaposto contenuto 2"/>
          <p:cNvSpPr txBox="1">
            <a:spLocks/>
          </p:cNvSpPr>
          <p:nvPr/>
        </p:nvSpPr>
        <p:spPr>
          <a:xfrm>
            <a:off x="179512" y="2636913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Se f è </a:t>
            </a:r>
            <a:r>
              <a:rPr lang="it-IT" dirty="0" err="1" smtClean="0"/>
              <a:t>Hölderiana</a:t>
            </a:r>
            <a:r>
              <a:rPr lang="it-IT" dirty="0" smtClean="0"/>
              <a:t>, f è uniformemente continua </a:t>
            </a:r>
            <a:r>
              <a:rPr lang="it-IT" dirty="0"/>
              <a:t>in </a:t>
            </a:r>
            <a:r>
              <a:rPr lang="it-IT" dirty="0" smtClean="0"/>
              <a:t>Ω.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Se </a:t>
            </a:r>
            <a:r>
              <a:rPr lang="it-IT" dirty="0"/>
              <a:t>Ω è un dominio </a:t>
            </a:r>
            <a:r>
              <a:rPr lang="it-IT" dirty="0" smtClean="0"/>
              <a:t>limitato, </a:t>
            </a:r>
            <a:r>
              <a:rPr lang="it-IT" dirty="0"/>
              <a:t>allora f è anche limitata e si può definire la norma:</a:t>
            </a: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3284984"/>
            <a:ext cx="6155060" cy="728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egnaposto contenuto 2"/>
          <p:cNvSpPr txBox="1">
            <a:spLocks/>
          </p:cNvSpPr>
          <p:nvPr/>
        </p:nvSpPr>
        <p:spPr>
          <a:xfrm>
            <a:off x="179512" y="4221088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che rende questo spazio uno spazio di </a:t>
            </a:r>
            <a:r>
              <a:rPr lang="it-IT" dirty="0" err="1" smtClean="0"/>
              <a:t>Banach</a:t>
            </a:r>
            <a:r>
              <a:rPr lang="it-IT" dirty="0" smtClean="0"/>
              <a:t>, indicato con C</a:t>
            </a:r>
            <a:r>
              <a:rPr lang="it-IT" baseline="30000" dirty="0" smtClean="0"/>
              <a:t>α</a:t>
            </a:r>
            <a:r>
              <a:rPr lang="it-IT" dirty="0" smtClean="0"/>
              <a:t>(Ω).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Diremo che f∈</a:t>
            </a:r>
            <a:r>
              <a:rPr lang="it-IT" dirty="0" err="1" smtClean="0"/>
              <a:t>C</a:t>
            </a:r>
            <a:r>
              <a:rPr lang="it-IT" baseline="30000" dirty="0" err="1" smtClean="0"/>
              <a:t>k</a:t>
            </a:r>
            <a:r>
              <a:rPr lang="it-IT" baseline="30000" dirty="0" smtClean="0"/>
              <a:t>,α</a:t>
            </a:r>
            <a:r>
              <a:rPr lang="it-IT" dirty="0" smtClean="0"/>
              <a:t>(Ω) se f∈</a:t>
            </a:r>
            <a:r>
              <a:rPr lang="it-IT" dirty="0" err="1" smtClean="0"/>
              <a:t>C</a:t>
            </a:r>
            <a:r>
              <a:rPr lang="it-IT" baseline="30000" dirty="0" err="1" smtClean="0"/>
              <a:t>k</a:t>
            </a:r>
            <a:r>
              <a:rPr lang="it-IT" dirty="0" smtClean="0"/>
              <a:t>(Ω) e tutte le derivate di ordine </a:t>
            </a:r>
            <a:r>
              <a:rPr lang="it-IT" i="1" dirty="0" smtClean="0"/>
              <a:t>k</a:t>
            </a:r>
            <a:r>
              <a:rPr lang="it-IT" dirty="0" smtClean="0"/>
              <a:t> di f appartengono a C</a:t>
            </a:r>
            <a:r>
              <a:rPr lang="it-IT" baseline="30000" dirty="0" smtClean="0"/>
              <a:t>α</a:t>
            </a:r>
            <a:r>
              <a:rPr lang="it-IT" dirty="0" smtClean="0"/>
              <a:t>(Ω).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L'</a:t>
            </a:r>
            <a:r>
              <a:rPr lang="it-IT" dirty="0" err="1" smtClean="0"/>
              <a:t>hölderianità</a:t>
            </a:r>
            <a:r>
              <a:rPr lang="it-IT" dirty="0" smtClean="0"/>
              <a:t> è una condizione più debole rispetto alla condizione di </a:t>
            </a:r>
            <a:r>
              <a:rPr lang="it-IT" dirty="0" err="1" smtClean="0"/>
              <a:t>Lipschitz</a:t>
            </a:r>
            <a:r>
              <a:rPr lang="it-IT" dirty="0" smtClean="0"/>
              <a:t>, che è l’analogo con α=1, e implica la derivabilità quasi ovunque: le funzioni </a:t>
            </a:r>
            <a:r>
              <a:rPr lang="it-IT" dirty="0" err="1" smtClean="0"/>
              <a:t>hölderiane</a:t>
            </a:r>
            <a:r>
              <a:rPr lang="it-IT" dirty="0" smtClean="0"/>
              <a:t>, invece, non sono generalmente derivabili.</a:t>
            </a: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424936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Risultati per EDP ellittiche del 2° ordine</a:t>
            </a:r>
            <a:br>
              <a:rPr lang="it-IT" dirty="0" smtClean="0"/>
            </a:br>
            <a:r>
              <a:rPr lang="it-IT" sz="3600" dirty="0" smtClean="0"/>
              <a:t>1. Soluzioni classiche</a:t>
            </a:r>
            <a:endParaRPr lang="it-IT" sz="3600" dirty="0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79512" y="285293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egnaposto contenuto 2"/>
          <p:cNvSpPr txBox="1">
            <a:spLocks/>
          </p:cNvSpPr>
          <p:nvPr/>
        </p:nvSpPr>
        <p:spPr>
          <a:xfrm>
            <a:off x="179512" y="1340768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La </a:t>
            </a:r>
            <a:r>
              <a:rPr lang="it-IT" b="1" dirty="0" smtClean="0"/>
              <a:t>teoria di </a:t>
            </a:r>
            <a:r>
              <a:rPr lang="it-IT" b="1" dirty="0" err="1" smtClean="0"/>
              <a:t>Schauder</a:t>
            </a:r>
            <a:r>
              <a:rPr lang="it-IT" b="1" dirty="0" smtClean="0"/>
              <a:t> </a:t>
            </a:r>
            <a:r>
              <a:rPr lang="it-IT" dirty="0" smtClean="0"/>
              <a:t>(J. P. </a:t>
            </a:r>
            <a:r>
              <a:rPr lang="it-IT" dirty="0" err="1" smtClean="0"/>
              <a:t>Schauder</a:t>
            </a:r>
            <a:r>
              <a:rPr lang="it-IT" dirty="0" smtClean="0"/>
              <a:t>, 1899-1943), sviluppata negli anni 1930, è la teoria classica standard che si applica agli operatori lineari del </a:t>
            </a:r>
            <a:r>
              <a:rPr lang="it-IT" dirty="0" err="1" smtClean="0"/>
              <a:t>second</a:t>
            </a:r>
            <a:r>
              <a:rPr lang="it-IT" dirty="0" smtClean="0"/>
              <a:t>’ordine uniformemente ellittici, ed è ambientata negli spazi di tipo </a:t>
            </a:r>
            <a:r>
              <a:rPr lang="it-IT" dirty="0" err="1" smtClean="0"/>
              <a:t>Hölder</a:t>
            </a:r>
            <a:r>
              <a:rPr lang="it-IT" dirty="0" smtClean="0"/>
              <a:t>. Il risultato base è il seguente: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276872"/>
            <a:ext cx="8274124" cy="4398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424936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Risultati per EDP ellittiche del 2° ordine</a:t>
            </a:r>
            <a:br>
              <a:rPr lang="it-IT" dirty="0" smtClean="0"/>
            </a:br>
            <a:r>
              <a:rPr lang="it-IT" sz="3600" dirty="0" smtClean="0"/>
              <a:t>2. Soluzioni deboli</a:t>
            </a:r>
            <a:endParaRPr lang="it-IT" sz="3600" dirty="0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79512" y="285293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egnaposto contenuto 2"/>
          <p:cNvSpPr txBox="1">
            <a:spLocks/>
          </p:cNvSpPr>
          <p:nvPr/>
        </p:nvSpPr>
        <p:spPr>
          <a:xfrm>
            <a:off x="179512" y="1340768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La teoria di </a:t>
            </a:r>
            <a:r>
              <a:rPr lang="it-IT" dirty="0" err="1" smtClean="0"/>
              <a:t>Schauder</a:t>
            </a:r>
            <a:r>
              <a:rPr lang="it-IT" dirty="0" smtClean="0"/>
              <a:t> è soddisfacente nel suo ambito, che richiede coefficienti (più che) continui.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Se pensiamo a un'equazione ellittica in forma di divergenza come caso stazionario di un'equazione di diffusione, per semplicità con la sola parte principale,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2708920"/>
            <a:ext cx="2206377" cy="724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sellaDiTesto 6"/>
          <p:cNvSpPr txBox="1"/>
          <p:nvPr/>
        </p:nvSpPr>
        <p:spPr>
          <a:xfrm>
            <a:off x="467544" y="3429000"/>
            <a:ext cx="82809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allora </a:t>
            </a:r>
            <a:r>
              <a:rPr lang="it-IT" i="1" dirty="0" smtClean="0"/>
              <a:t>a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 descrive la conducibilità termica del materiale, e può essere discontinuo. </a:t>
            </a:r>
          </a:p>
          <a:p>
            <a:r>
              <a:rPr lang="it-IT" dirty="0" smtClean="0"/>
              <a:t>In questo caso, per quanto regolare sia </a:t>
            </a:r>
            <a:r>
              <a:rPr lang="it-IT" i="1" dirty="0" smtClean="0"/>
              <a:t>u</a:t>
            </a:r>
            <a:r>
              <a:rPr lang="it-IT" dirty="0" smtClean="0"/>
              <a:t>, in generale </a:t>
            </a:r>
            <a:r>
              <a:rPr lang="it-IT" i="1" dirty="0" smtClean="0"/>
              <a:t>a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</a:t>
            </a:r>
            <a:r>
              <a:rPr lang="it-IT" i="1" dirty="0" err="1" smtClean="0"/>
              <a:t>u</a:t>
            </a:r>
            <a:r>
              <a:rPr lang="it-IT" i="1" baseline="-25000" dirty="0" err="1" smtClean="0"/>
              <a:t>xi</a:t>
            </a:r>
            <a:r>
              <a:rPr lang="it-IT" dirty="0" smtClean="0"/>
              <a:t> non sarà derivabile, e il significato stesso dell'operatore non è chiaro. </a:t>
            </a:r>
          </a:p>
          <a:p>
            <a:r>
              <a:rPr lang="it-IT" dirty="0" smtClean="0"/>
              <a:t>D'altro canto, se riandiamo al procedimento con cui abbiamo dedotto l'equazione differenziale, vediamo che la quantità dotata di un significato fisico diretto è il </a:t>
            </a:r>
            <a:r>
              <a:rPr lang="it-IT" i="1" dirty="0" smtClean="0"/>
              <a:t>flusso di corrente termica</a:t>
            </a:r>
            <a:r>
              <a:rPr lang="it-IT" dirty="0" smtClean="0"/>
              <a:t> </a:t>
            </a:r>
            <a:r>
              <a:rPr lang="it-IT" i="1" dirty="0" smtClean="0"/>
              <a:t>a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)∇</a:t>
            </a:r>
            <a:r>
              <a:rPr lang="it-IT" i="1" dirty="0" smtClean="0"/>
              <a:t>u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 attraverso un'opportuna superficie. </a:t>
            </a:r>
          </a:p>
          <a:p>
            <a:r>
              <a:rPr lang="it-IT" dirty="0" smtClean="0"/>
              <a:t>L’idea quindi è indebolire la definizione di soluzione, accontentandosi di richiedere che </a:t>
            </a:r>
            <a:r>
              <a:rPr lang="it-IT" i="1" dirty="0" smtClean="0"/>
              <a:t>a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</a:t>
            </a:r>
            <a:r>
              <a:rPr lang="it-IT" i="1" dirty="0" err="1" smtClean="0"/>
              <a:t>u</a:t>
            </a:r>
            <a:r>
              <a:rPr lang="it-IT" i="1" baseline="-25000" dirty="0" err="1" smtClean="0"/>
              <a:t>xi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 sia effettivamente una funzione per i=1,2,...,n, e la derivata ∂</a:t>
            </a:r>
            <a:r>
              <a:rPr lang="it-IT" i="1" baseline="-25000" dirty="0" smtClean="0"/>
              <a:t>xi</a:t>
            </a:r>
            <a:r>
              <a:rPr lang="it-IT" dirty="0" smtClean="0"/>
              <a:t>(</a:t>
            </a:r>
            <a:r>
              <a:rPr lang="it-IT" i="1" dirty="0" smtClean="0"/>
              <a:t>a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</a:t>
            </a:r>
            <a:r>
              <a:rPr lang="it-IT" i="1" dirty="0" err="1" smtClean="0"/>
              <a:t>u</a:t>
            </a:r>
            <a:r>
              <a:rPr lang="it-IT" i="1" baseline="-25000" dirty="0" err="1" smtClean="0"/>
              <a:t>xi</a:t>
            </a:r>
            <a:r>
              <a:rPr lang="it-IT" dirty="0" smtClean="0"/>
              <a:t>) esista solo </a:t>
            </a:r>
            <a:r>
              <a:rPr lang="it-IT" i="1" dirty="0" smtClean="0"/>
              <a:t>in senso distribuzionale</a:t>
            </a:r>
            <a:r>
              <a:rPr lang="it-IT" dirty="0" smtClean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424936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Risultati per EDP ellittiche del 2° ordine</a:t>
            </a:r>
            <a:br>
              <a:rPr lang="it-IT" dirty="0" smtClean="0"/>
            </a:br>
            <a:r>
              <a:rPr lang="it-IT" sz="3600" dirty="0" smtClean="0"/>
              <a:t>2. Soluzioni deboli</a:t>
            </a:r>
            <a:endParaRPr lang="it-IT" sz="3600" dirty="0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79512" y="285293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egnaposto contenuto 2"/>
          <p:cNvSpPr txBox="1">
            <a:spLocks/>
          </p:cNvSpPr>
          <p:nvPr/>
        </p:nvSpPr>
        <p:spPr>
          <a:xfrm>
            <a:off x="179512" y="1340768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dirty="0" smtClean="0"/>
              <a:t>1. Supponiamo in un primo tempo che il coefficiente </a:t>
            </a:r>
            <a:r>
              <a:rPr lang="it-IT" i="1" dirty="0" smtClean="0"/>
              <a:t>a</a:t>
            </a:r>
            <a:r>
              <a:rPr lang="it-IT" dirty="0" smtClean="0"/>
              <a:t> e la soluzione </a:t>
            </a:r>
            <a:r>
              <a:rPr lang="it-IT" i="1" dirty="0" smtClean="0"/>
              <a:t>u</a:t>
            </a:r>
            <a:r>
              <a:rPr lang="it-IT" dirty="0" smtClean="0"/>
              <a:t> siano regolari quanto occorre perché </a:t>
            </a:r>
            <a:r>
              <a:rPr lang="it-IT" i="1" dirty="0" smtClean="0"/>
              <a:t>Lu</a:t>
            </a:r>
            <a:r>
              <a:rPr lang="it-IT" dirty="0" smtClean="0"/>
              <a:t> sia ben definito in senso classico e, volendo interpretare l'equazione </a:t>
            </a:r>
            <a:r>
              <a:rPr lang="it-IT" i="1" dirty="0" err="1" smtClean="0"/>
              <a:t>Lu=f</a:t>
            </a:r>
            <a:r>
              <a:rPr lang="it-IT" dirty="0" smtClean="0"/>
              <a:t> in Ω, moltiplichiamo ambo i membri per φ∈D(Ω) e integriamo su Ω: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2529" y="2223592"/>
            <a:ext cx="3502918" cy="84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egnaposto contenuto 2"/>
          <p:cNvSpPr txBox="1">
            <a:spLocks/>
          </p:cNvSpPr>
          <p:nvPr/>
        </p:nvSpPr>
        <p:spPr>
          <a:xfrm>
            <a:off x="451683" y="2979552"/>
            <a:ext cx="8748464" cy="497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it-IT" dirty="0" smtClean="0"/>
              <a:t>2. Integriamo per parti il primo membro. Poiché φ∈D(Ω) non ci sono termini di bordo:</a:t>
            </a:r>
            <a:endParaRPr lang="it-IT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68415" y="3346750"/>
            <a:ext cx="5024636" cy="79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sellaDiTesto 10"/>
          <p:cNvSpPr txBox="1"/>
          <p:nvPr/>
        </p:nvSpPr>
        <p:spPr>
          <a:xfrm>
            <a:off x="425751" y="4138853"/>
            <a:ext cx="8280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3. Quest'identità ha senso sotto la sola ipotesi che (ad esempio) u∈</a:t>
            </a:r>
            <a:r>
              <a:rPr lang="it-IT" dirty="0" err="1" smtClean="0"/>
              <a:t>C¹</a:t>
            </a:r>
            <a:r>
              <a:rPr lang="it-IT" dirty="0" smtClean="0"/>
              <a:t>(Ω). In questo caso infatti </a:t>
            </a:r>
            <a:r>
              <a:rPr lang="it-IT" i="1" dirty="0" err="1" smtClean="0"/>
              <a:t>v</a:t>
            </a:r>
            <a:r>
              <a:rPr lang="it-IT" i="1" baseline="-25000" dirty="0" err="1" smtClean="0"/>
              <a:t>i</a:t>
            </a:r>
            <a:r>
              <a:rPr lang="it-IT" dirty="0" err="1" smtClean="0"/>
              <a:t>≡</a:t>
            </a:r>
            <a:r>
              <a:rPr lang="it-IT" i="1" dirty="0" err="1" smtClean="0"/>
              <a:t>a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</a:t>
            </a:r>
            <a:r>
              <a:rPr lang="it-IT" i="1" dirty="0" err="1" smtClean="0"/>
              <a:t>u</a:t>
            </a:r>
            <a:r>
              <a:rPr lang="it-IT" baseline="-25000" dirty="0" err="1" smtClean="0"/>
              <a:t>xi</a:t>
            </a:r>
            <a:r>
              <a:rPr lang="it-IT" dirty="0" smtClean="0"/>
              <a:t>∈L</a:t>
            </a:r>
            <a:r>
              <a:rPr lang="it-IT" baseline="30000" dirty="0" smtClean="0"/>
              <a:t>∞</a:t>
            </a:r>
            <a:r>
              <a:rPr lang="it-IT" dirty="0" smtClean="0"/>
              <a:t>(Ω), in particolare è una funzione localmente integrabile e quindi è una distribuzione, e l'uguaglianza precedente esprime il fatto che</a:t>
            </a:r>
            <a:endParaRPr lang="it-IT" dirty="0"/>
          </a:p>
        </p:txBody>
      </p:sp>
      <p:grpSp>
        <p:nvGrpSpPr>
          <p:cNvPr id="14" name="Gruppo 13"/>
          <p:cNvGrpSpPr/>
          <p:nvPr/>
        </p:nvGrpSpPr>
        <p:grpSpPr>
          <a:xfrm>
            <a:off x="2267079" y="5062183"/>
            <a:ext cx="4644890" cy="648072"/>
            <a:chOff x="2627784" y="5589240"/>
            <a:chExt cx="4644890" cy="648072"/>
          </a:xfrm>
        </p:grpSpPr>
        <p:pic>
          <p:nvPicPr>
            <p:cNvPr id="819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27784" y="5589240"/>
              <a:ext cx="1588567" cy="648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CasellaDiTesto 12"/>
            <p:cNvSpPr txBox="1"/>
            <p:nvPr/>
          </p:nvSpPr>
          <p:spPr>
            <a:xfrm>
              <a:off x="4427984" y="5661248"/>
              <a:ext cx="2844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smtClean="0"/>
                <a:t>nel senso delle distribuzioni.</a:t>
              </a:r>
              <a:endParaRPr lang="it-IT" dirty="0"/>
            </a:p>
          </p:txBody>
        </p:sp>
      </p:grpSp>
      <p:sp>
        <p:nvSpPr>
          <p:cNvPr id="3" name="CasellaDiTesto 2"/>
          <p:cNvSpPr txBox="1"/>
          <p:nvPr/>
        </p:nvSpPr>
        <p:spPr>
          <a:xfrm>
            <a:off x="451683" y="5782263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20000"/>
              </a:spcBef>
            </a:pPr>
            <a:r>
              <a:rPr lang="it-IT" dirty="0"/>
              <a:t> 4. Potremmo quindi dare la seguente definizione di soluzione debole dell'equazione Lu=f: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9" grpId="0" build="p"/>
      <p:bldP spid="11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424936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Risultati per EDP ellittiche del 2° ordine</a:t>
            </a:r>
            <a:br>
              <a:rPr lang="it-IT" dirty="0" smtClean="0"/>
            </a:br>
            <a:r>
              <a:rPr lang="it-IT" sz="3600" dirty="0" smtClean="0"/>
              <a:t>2. Soluzioni deboli</a:t>
            </a:r>
            <a:endParaRPr lang="it-IT" sz="3600" dirty="0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79512" y="285293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egnaposto contenuto 2"/>
          <p:cNvSpPr txBox="1">
            <a:spLocks/>
          </p:cNvSpPr>
          <p:nvPr/>
        </p:nvSpPr>
        <p:spPr>
          <a:xfrm>
            <a:off x="348223" y="1418857"/>
            <a:ext cx="8231530" cy="6419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b="1" dirty="0" smtClean="0"/>
              <a:t>Definizione</a:t>
            </a:r>
            <a:r>
              <a:rPr lang="it-IT" dirty="0" smtClean="0"/>
              <a:t> </a:t>
            </a:r>
            <a:r>
              <a:rPr lang="it-IT" b="1" dirty="0" smtClean="0"/>
              <a:t>(soluzione debole, primo tentativo). </a:t>
            </a:r>
            <a:r>
              <a:rPr lang="it-IT" dirty="0" smtClean="0"/>
              <a:t>Si dice che </a:t>
            </a:r>
            <a:r>
              <a:rPr lang="it-IT" i="1" dirty="0" smtClean="0"/>
              <a:t>u</a:t>
            </a:r>
            <a:r>
              <a:rPr lang="it-IT" dirty="0" smtClean="0"/>
              <a:t> è soluzione debole di </a:t>
            </a:r>
            <a:r>
              <a:rPr lang="it-IT" i="1" dirty="0" smtClean="0"/>
              <a:t>Lu=f</a:t>
            </a:r>
            <a:r>
              <a:rPr lang="it-IT" dirty="0" smtClean="0"/>
              <a:t>, con a∈L</a:t>
            </a:r>
            <a:r>
              <a:rPr lang="it-IT" baseline="30000" dirty="0" smtClean="0"/>
              <a:t>∞</a:t>
            </a:r>
            <a:r>
              <a:rPr lang="it-IT" dirty="0" smtClean="0"/>
              <a:t>(Ω), e f∈L</a:t>
            </a:r>
            <a:r>
              <a:rPr lang="it-IT" baseline="30000" dirty="0" smtClean="0"/>
              <a:t>1</a:t>
            </a:r>
            <a:r>
              <a:rPr lang="it-IT" baseline="-25000" dirty="0" smtClean="0"/>
              <a:t>loc</a:t>
            </a:r>
            <a:r>
              <a:rPr lang="it-IT" dirty="0" smtClean="0"/>
              <a:t>(Ω), se u∈C¹(Ω) e vale la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467544" y="3090904"/>
            <a:ext cx="84969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it-IT" dirty="0" smtClean="0"/>
              <a:t>Questa definizione ha il pregio di dar senso all'equazione anche nel caso in cui </a:t>
            </a:r>
            <a:r>
              <a:rPr lang="it-IT" i="1" dirty="0" smtClean="0"/>
              <a:t>a</a:t>
            </a:r>
            <a:r>
              <a:rPr lang="it-IT" dirty="0" smtClean="0"/>
              <a:t> è discontinuo (purché limitato). </a:t>
            </a:r>
          </a:p>
          <a:p>
            <a:pPr lvl="0"/>
            <a:r>
              <a:rPr lang="it-IT" dirty="0" smtClean="0"/>
              <a:t>Il difetto della definizione è il quadro funzionale: lo spazio C¹(Ω) si accorda male con la definizione di soluzione data mediante un'identità integrale. </a:t>
            </a:r>
          </a:p>
          <a:p>
            <a:pPr lvl="0"/>
            <a:r>
              <a:rPr lang="it-IT" dirty="0" smtClean="0"/>
              <a:t>Gli </a:t>
            </a:r>
            <a:r>
              <a:rPr lang="it-IT" dirty="0"/>
              <a:t>sviluppi </a:t>
            </a:r>
            <a:r>
              <a:rPr lang="it-IT" dirty="0" smtClean="0"/>
              <a:t>dell’analisi </a:t>
            </a:r>
            <a:r>
              <a:rPr lang="it-IT" dirty="0"/>
              <a:t>del '900 hanno mostrato che difficilmente riusciremo a dimostrare teoremi di esistenza se non ambientiamo la ricerca della soluzione </a:t>
            </a:r>
            <a:r>
              <a:rPr lang="it-IT" i="1" dirty="0"/>
              <a:t>u</a:t>
            </a:r>
            <a:r>
              <a:rPr lang="it-IT" dirty="0"/>
              <a:t> in un opportuno spazio di funzioni, vettoriale, normato e </a:t>
            </a:r>
            <a:r>
              <a:rPr lang="it-IT" i="1" dirty="0"/>
              <a:t>completo</a:t>
            </a:r>
            <a:r>
              <a:rPr lang="it-IT" dirty="0"/>
              <a:t>. </a:t>
            </a:r>
            <a:endParaRPr lang="it-IT" dirty="0" smtClean="0"/>
          </a:p>
          <a:p>
            <a:pPr lvl="0"/>
            <a:r>
              <a:rPr lang="it-IT" dirty="0" smtClean="0"/>
              <a:t>Se </a:t>
            </a:r>
            <a:r>
              <a:rPr lang="it-IT" dirty="0"/>
              <a:t>un'uguaglianza integrale entra in modo determinante nella definizione di soluzione, lo spazio funzionale in cui cercare la soluzione dovrà essere uno spazio vettoriale munito di una norma di tipo integrale. </a:t>
            </a:r>
            <a:endParaRPr lang="it-IT" dirty="0" smtClean="0"/>
          </a:p>
          <a:p>
            <a:pPr lvl="0"/>
            <a:r>
              <a:rPr lang="it-IT" dirty="0" smtClean="0"/>
              <a:t>Ma </a:t>
            </a:r>
            <a:r>
              <a:rPr lang="it-IT" dirty="0"/>
              <a:t>lo spazio C¹(Ω) munito di una norma integrale non è </a:t>
            </a:r>
            <a:r>
              <a:rPr lang="it-IT" dirty="0" smtClean="0"/>
              <a:t>completo…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4520" y="2123727"/>
            <a:ext cx="5354960" cy="847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424936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Risultati per EDP ellittiche del 2° ordine</a:t>
            </a:r>
            <a:br>
              <a:rPr lang="it-IT" dirty="0" smtClean="0"/>
            </a:br>
            <a:r>
              <a:rPr lang="it-IT" sz="3600" dirty="0" smtClean="0"/>
              <a:t>2. Soluzioni deboli</a:t>
            </a:r>
            <a:endParaRPr lang="it-IT" sz="3600" dirty="0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79512" y="2852936"/>
            <a:ext cx="8784976" cy="864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it-IT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egnaposto contenuto 2"/>
          <p:cNvSpPr txBox="1">
            <a:spLocks/>
          </p:cNvSpPr>
          <p:nvPr/>
        </p:nvSpPr>
        <p:spPr>
          <a:xfrm>
            <a:off x="348223" y="1844824"/>
            <a:ext cx="8231530" cy="9741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Occorre allargare questo spazio C¹(Ω) a uno spazio più stabile rispetto alle approssimazioni in norma integrale. </a:t>
            </a:r>
            <a:endParaRPr lang="it-IT" dirty="0" smtClean="0"/>
          </a:p>
          <a:p>
            <a:pPr lvl="0"/>
            <a:r>
              <a:rPr lang="it-IT" dirty="0" smtClean="0"/>
              <a:t>Ma </a:t>
            </a:r>
            <a:r>
              <a:rPr lang="it-IT" dirty="0"/>
              <a:t>questo significa che anche la definizione di derivata di </a:t>
            </a:r>
            <a:r>
              <a:rPr lang="it-IT" i="1" dirty="0"/>
              <a:t>u</a:t>
            </a:r>
            <a:r>
              <a:rPr lang="it-IT" dirty="0"/>
              <a:t> va indebolita, nella direzione di una definizione di tipo integrale</a:t>
            </a:r>
            <a:r>
              <a:rPr lang="it-IT" dirty="0" smtClean="0"/>
              <a:t>.</a:t>
            </a:r>
          </a:p>
          <a:p>
            <a:pPr lvl="0"/>
            <a:r>
              <a:rPr lang="it-IT" dirty="0" smtClean="0"/>
              <a:t>Questo porta a introdurre la definizione di </a:t>
            </a:r>
            <a:r>
              <a:rPr lang="it-IT" i="1" dirty="0" smtClean="0"/>
              <a:t>derivata debole </a:t>
            </a:r>
            <a:r>
              <a:rPr lang="it-IT" dirty="0" smtClean="0"/>
              <a:t>e di spazi di funzioni derivabili in senso debole, gli </a:t>
            </a:r>
            <a:r>
              <a:rPr lang="it-IT" i="1" dirty="0" smtClean="0"/>
              <a:t>spazi di </a:t>
            </a:r>
            <a:r>
              <a:rPr lang="it-IT" i="1" dirty="0" err="1" smtClean="0"/>
              <a:t>Sobolev</a:t>
            </a:r>
            <a:r>
              <a:rPr lang="it-IT" dirty="0" smtClean="0"/>
              <a:t>, che come vedremo sono spazi di </a:t>
            </a:r>
            <a:r>
              <a:rPr lang="it-IT" dirty="0" err="1" smtClean="0"/>
              <a:t>Hilbert</a:t>
            </a:r>
            <a:r>
              <a:rPr lang="it-IT" dirty="0" smtClean="0"/>
              <a:t> di funzioni derivabili in senso debole.</a:t>
            </a:r>
          </a:p>
          <a:p>
            <a:pPr lvl="0"/>
            <a:r>
              <a:rPr lang="it-IT" dirty="0" smtClean="0"/>
              <a:t>In </a:t>
            </a:r>
            <a:r>
              <a:rPr lang="it-IT" dirty="0"/>
              <a:t>quest'ultima parte del </a:t>
            </a:r>
            <a:r>
              <a:rPr lang="it-IT" dirty="0" smtClean="0"/>
              <a:t>corso:    </a:t>
            </a:r>
          </a:p>
          <a:p>
            <a:pPr marL="342900" lvl="0" indent="-342900">
              <a:buAutoNum type="arabicPeriod"/>
            </a:pPr>
            <a:r>
              <a:rPr lang="it-IT" dirty="0" smtClean="0"/>
              <a:t>Introdurremo i primi elementi della teoria degli spazi di </a:t>
            </a:r>
            <a:r>
              <a:rPr lang="it-IT" dirty="0" err="1" smtClean="0"/>
              <a:t>Sobolev</a:t>
            </a:r>
            <a:r>
              <a:rPr lang="it-IT" dirty="0" smtClean="0"/>
              <a:t> (</a:t>
            </a:r>
            <a:r>
              <a:rPr lang="it-IT" dirty="0" err="1" smtClean="0"/>
              <a:t>ca</a:t>
            </a:r>
            <a:r>
              <a:rPr lang="it-IT" dirty="0" smtClean="0"/>
              <a:t>. 1935); </a:t>
            </a:r>
          </a:p>
          <a:p>
            <a:pPr marL="342900" lvl="0" indent="-342900">
              <a:buAutoNum type="arabicPeriod"/>
            </a:pPr>
            <a:r>
              <a:rPr lang="it-IT" dirty="0" smtClean="0"/>
              <a:t>Svilupperemo qualche altro risultato della teoria </a:t>
            </a:r>
            <a:r>
              <a:rPr lang="it-IT" dirty="0"/>
              <a:t>astratta degli spazi di </a:t>
            </a:r>
            <a:r>
              <a:rPr lang="it-IT" dirty="0" err="1" smtClean="0"/>
              <a:t>Hilbert</a:t>
            </a:r>
            <a:r>
              <a:rPr lang="it-IT" dirty="0" smtClean="0"/>
              <a:t> (Teor. di </a:t>
            </a:r>
            <a:r>
              <a:rPr lang="it-IT" dirty="0" err="1" smtClean="0"/>
              <a:t>Lax-Milgram</a:t>
            </a:r>
            <a:r>
              <a:rPr lang="it-IT" dirty="0" smtClean="0"/>
              <a:t>, </a:t>
            </a:r>
            <a:r>
              <a:rPr lang="it-IT" dirty="0" err="1" smtClean="0"/>
              <a:t>ca</a:t>
            </a:r>
            <a:r>
              <a:rPr lang="it-IT" dirty="0" smtClean="0"/>
              <a:t>. 1955);</a:t>
            </a:r>
          </a:p>
          <a:p>
            <a:pPr marL="342900" lvl="0" indent="-342900">
              <a:buAutoNum type="arabicPeriod"/>
            </a:pPr>
            <a:r>
              <a:rPr lang="it-IT" dirty="0" smtClean="0"/>
              <a:t>Con questi due ingredienti, daremo la </a:t>
            </a:r>
            <a:r>
              <a:rPr lang="it-IT" i="1" dirty="0" smtClean="0"/>
              <a:t>formulazione </a:t>
            </a:r>
            <a:r>
              <a:rPr lang="it-IT" i="1" dirty="0"/>
              <a:t>debole dei problemi ai limiti </a:t>
            </a:r>
            <a:r>
              <a:rPr lang="it-IT" dirty="0"/>
              <a:t>per equazioni ellittiche, e </a:t>
            </a:r>
            <a:r>
              <a:rPr lang="it-IT" dirty="0" smtClean="0"/>
              <a:t>otterremo </a:t>
            </a:r>
            <a:r>
              <a:rPr lang="it-IT" dirty="0"/>
              <a:t>dei </a:t>
            </a:r>
            <a:r>
              <a:rPr lang="it-IT" i="1" dirty="0"/>
              <a:t>risultati di buona posizione</a:t>
            </a:r>
            <a:r>
              <a:rPr lang="it-IT" dirty="0" smtClean="0"/>
              <a:t>.</a:t>
            </a:r>
          </a:p>
          <a:p>
            <a:pPr marL="342900" lvl="0" indent="-342900">
              <a:buAutoNum type="arabicPeriod"/>
            </a:pPr>
            <a:r>
              <a:rPr lang="it-IT" dirty="0" smtClean="0"/>
              <a:t>Infine accenneremo a un ulteriore concetto di soluzione reso possibile dalla teoria degli spazi di </a:t>
            </a:r>
            <a:r>
              <a:rPr lang="it-IT" dirty="0" err="1" smtClean="0"/>
              <a:t>Sobolev</a:t>
            </a:r>
            <a:r>
              <a:rPr lang="it-IT" dirty="0" smtClean="0"/>
              <a:t>, quello di </a:t>
            </a:r>
            <a:r>
              <a:rPr lang="it-IT" i="1" dirty="0" smtClean="0"/>
              <a:t>soluzione forte</a:t>
            </a:r>
            <a:r>
              <a:rPr lang="it-IT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72619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2081</Words>
  <Application>Microsoft Office PowerPoint</Application>
  <PresentationFormat>Presentazione su schermo (4:3)</PresentationFormat>
  <Paragraphs>89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5" baseType="lpstr">
      <vt:lpstr>Tema di Office</vt:lpstr>
      <vt:lpstr>Concetti diversi di “soluzione”  per un’EDP</vt:lpstr>
      <vt:lpstr>Diapositiva 2</vt:lpstr>
      <vt:lpstr>La ricerca di risultati generali per EDP La teoria delle distribuzioni</vt:lpstr>
      <vt:lpstr>La ricerca di risultati generali per EDP La teoria delle distribuzioni</vt:lpstr>
      <vt:lpstr>La ricerca di risultati generali per EDP La teoria delle distribuzioni</vt:lpstr>
      <vt:lpstr>La ricerca di risultati generali per EDP La teoria delle distribuzioni</vt:lpstr>
      <vt:lpstr>La ricerca di risultati generali per EDP La teoria delle distribuzioni</vt:lpstr>
      <vt:lpstr>Risultati per EDP ellittiche del 2° ordine 1. Soluzioni classiche</vt:lpstr>
      <vt:lpstr>Risultati per EDP ellittiche del 2° ordine 1. Soluzioni classiche</vt:lpstr>
      <vt:lpstr>Risultati per EDP ellittiche del 2° ordine 1. Soluzioni classiche</vt:lpstr>
      <vt:lpstr>Risultati per EDP ellittiche del 2° ordine 2. Soluzioni deboli</vt:lpstr>
      <vt:lpstr>Risultati per EDP ellittiche del 2° ordine 2. Soluzioni deboli</vt:lpstr>
      <vt:lpstr>Risultati per EDP ellittiche del 2° ordine 2. Soluzioni deboli</vt:lpstr>
      <vt:lpstr>Risultati per EDP ellittiche del 2° ordine 2. Soluzioni deboli</vt:lpstr>
    </vt:vector>
  </TitlesOfParts>
  <Company>BASTARDS TeaM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Concetti diversi di “soluzione”  per un’EDP</dc:title>
  <dc:creator>Marco</dc:creator>
  <cp:lastModifiedBy>Marco</cp:lastModifiedBy>
  <cp:revision>30</cp:revision>
  <dcterms:created xsi:type="dcterms:W3CDTF">2022-02-02T13:12:41Z</dcterms:created>
  <dcterms:modified xsi:type="dcterms:W3CDTF">2023-03-22T23:10:41Z</dcterms:modified>
</cp:coreProperties>
</file>